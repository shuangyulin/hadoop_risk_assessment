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0.jpe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6.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6.pn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image" Target="../media/image22.jpeg"/><Relationship Id="rId3" Type="http://schemas.openxmlformats.org/officeDocument/2006/relationships/image" Target="../media/image21.jpeg"/><Relationship Id="rId2" Type="http://schemas.openxmlformats.org/officeDocument/2006/relationships/image" Target="../media/image6.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xml"/><Relationship Id="rId5" Type="http://schemas.openxmlformats.org/officeDocument/2006/relationships/image" Target="../media/image26.jpeg"/><Relationship Id="rId4" Type="http://schemas.openxmlformats.org/officeDocument/2006/relationships/image" Target="../media/image25.jpeg"/><Relationship Id="rId3" Type="http://schemas.openxmlformats.org/officeDocument/2006/relationships/image" Target="../media/image24.jpeg"/><Relationship Id="rId2" Type="http://schemas.openxmlformats.org/officeDocument/2006/relationships/image" Target="../media/image6.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1.xml"/><Relationship Id="rId5" Type="http://schemas.openxmlformats.org/officeDocument/2006/relationships/image" Target="../media/image29.jpeg"/><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6.png"/><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xml"/><Relationship Id="rId5" Type="http://schemas.openxmlformats.org/officeDocument/2006/relationships/image" Target="../media/image32.jpeg"/><Relationship Id="rId4" Type="http://schemas.openxmlformats.org/officeDocument/2006/relationships/image" Target="../media/image31.jpeg"/><Relationship Id="rId3" Type="http://schemas.openxmlformats.org/officeDocument/2006/relationships/image" Target="../media/image30.jpeg"/><Relationship Id="rId2" Type="http://schemas.openxmlformats.org/officeDocument/2006/relationships/image" Target="../media/image6.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33.jpeg"/><Relationship Id="rId2" Type="http://schemas.openxmlformats.org/officeDocument/2006/relationships/image" Target="../media/image6.png"/><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323695" y="315976"/>
            <a:ext cx="4768100" cy="1472184"/>
          </a:xfrm>
          <a:prstGeom prst="rect">
            <a:avLst/>
          </a:prstGeom>
          <a:noFill/>
        </p:spPr>
        <p:txBody>
          <a:bodyPr wrap="square" lIns="95250" tIns="95250" rIns="95250" bIns="95250" rtlCol="0" anchor="t"/>
          <a:lstStyle/>
          <a:p>
            <a:pPr marL="0" indent="0">
              <a:lnSpc>
                <a:spcPct val="100000"/>
              </a:lnSpc>
              <a:spcBef>
                <a:spcPts val="375"/>
              </a:spcBef>
              <a:buNone/>
            </a:pPr>
            <a:r>
              <a:rPr lang="zh-CN" altLang="en-US" sz="2800" b="1" kern="0" spc="36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基于</a:t>
            </a:r>
            <a:r>
              <a:rPr lang="en-US" altLang="zh-CN" sz="2800" b="1" kern="0" spc="36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Hadoop</a:t>
            </a:r>
            <a:r>
              <a:rPr lang="zh-CN" altLang="en-US" sz="2800" b="1" kern="0" spc="36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的信贷风险评估的数据可视化分析与预测系统的设计与实现</a:t>
            </a:r>
            <a:endParaRPr lang="zh-CN" altLang="en-US" sz="2800" b="1" kern="0" spc="36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Text 2"/>
          <p:cNvSpPr/>
          <p:nvPr/>
        </p:nvSpPr>
        <p:spPr>
          <a:xfrm>
            <a:off x="866272" y="3887781"/>
            <a:ext cx="1624658" cy="457200"/>
          </a:xfrm>
          <a:prstGeom prst="rect">
            <a:avLst/>
          </a:prstGeom>
          <a:noFill/>
        </p:spPr>
        <p:txBody>
          <a:bodyPr wrap="square" lIns="95250" tIns="95250" rIns="95250" bIns="95250" rtlCol="0" anchor="t"/>
          <a:lstStyle/>
          <a:p>
            <a:pPr marL="0" indent="0">
              <a:lnSpc>
                <a:spcPct val="113000"/>
              </a:lnSpc>
              <a:spcBef>
                <a:spcPts val="375"/>
              </a:spcBef>
              <a:buNone/>
            </a:pPr>
            <a:r>
              <a:rPr lang="en-US" sz="1295"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汇报人: </a:t>
            </a:r>
            <a:endParaRPr lang="en-US" sz="14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4655" y="574450"/>
            <a:ext cx="1344276" cy="758952"/>
          </a:xfrm>
          <a:prstGeom prst="rect">
            <a:avLst/>
          </a:prstGeom>
          <a:noFill/>
        </p:spPr>
        <p:txBody>
          <a:bodyPr wrap="square" lIns="95250" tIns="95250" rIns="95250" bIns="95250" rtlCol="0" anchor="t"/>
          <a:lstStyle/>
          <a:p>
            <a:pPr marL="0" indent="0" algn="ctr">
              <a:lnSpc>
                <a:spcPct val="113000"/>
              </a:lnSpc>
              <a:spcBef>
                <a:spcPts val="375"/>
              </a:spcBef>
              <a:buNone/>
            </a:pPr>
            <a:r>
              <a:rPr lang="en-US" sz="302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1440" dirty="0"/>
          </a:p>
        </p:txBody>
      </p:sp>
      <p:pic>
        <p:nvPicPr>
          <p:cNvPr id="3" name="Image 0" descr="preencoded.png"/>
          <p:cNvPicPr>
            <a:picLocks noChangeAspect="1"/>
          </p:cNvPicPr>
          <p:nvPr/>
        </p:nvPicPr>
        <p:blipFill>
          <a:blip r:embed="rId2">
            <a:alphaModFix amt="30000"/>
          </a:blip>
          <a:stretch>
            <a:fillRect/>
          </a:stretch>
        </p:blipFill>
        <p:spPr>
          <a:xfrm>
            <a:off x="810717" y="3826910"/>
            <a:ext cx="743164" cy="743164"/>
          </a:xfrm>
          <a:prstGeom prst="rect">
            <a:avLst/>
          </a:prstGeom>
        </p:spPr>
      </p:pic>
      <p:sp>
        <p:nvSpPr>
          <p:cNvPr id="4" name="Shape 1"/>
          <p:cNvSpPr/>
          <p:nvPr/>
        </p:nvSpPr>
        <p:spPr>
          <a:xfrm>
            <a:off x="1799204" y="2007064"/>
            <a:ext cx="0" cy="2782584"/>
          </a:xfrm>
          <a:custGeom>
            <a:avLst/>
            <a:gdLst/>
            <a:ahLst/>
            <a:cxnLst/>
            <a:rect l="l" t="t" r="r" b="b"/>
            <a:pathLst>
              <a:path h="2782584">
                <a:moveTo>
                  <a:pt x="0" y="0"/>
                </a:moveTo>
                <a:moveTo>
                  <a:pt x="0" y="0"/>
                </a:moveTo>
                <a:lnTo>
                  <a:pt x="0" y="2782584"/>
                </a:lnTo>
              </a:path>
            </a:pathLst>
          </a:custGeom>
          <a:noFill/>
          <a:ln w="9525">
            <a:solidFill>
              <a:srgbClr val="FFFFFF"/>
            </a:solidFill>
            <a:prstDash val="solid"/>
            <a:headEnd type="none"/>
            <a:tailEnd type="none"/>
          </a:ln>
        </p:spPr>
      </p:sp>
      <p:sp>
        <p:nvSpPr>
          <p:cNvPr id="5" name="Text 2"/>
          <p:cNvSpPr/>
          <p:nvPr/>
        </p:nvSpPr>
        <p:spPr>
          <a:xfrm>
            <a:off x="2719620" y="2254644"/>
            <a:ext cx="3108960"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系统开发背景</a:t>
            </a:r>
            <a:endParaRPr lang="en-US" sz="1440" dirty="0"/>
          </a:p>
        </p:txBody>
      </p:sp>
      <p:sp>
        <p:nvSpPr>
          <p:cNvPr id="6" name="Text 3"/>
          <p:cNvSpPr/>
          <p:nvPr/>
        </p:nvSpPr>
        <p:spPr>
          <a:xfrm>
            <a:off x="2102602" y="2190636"/>
            <a:ext cx="713232" cy="621792"/>
          </a:xfrm>
          <a:prstGeom prst="rect">
            <a:avLst/>
          </a:prstGeom>
          <a:noFill/>
        </p:spPr>
        <p:txBody>
          <a:bodyPr wrap="square" lIns="95250" tIns="95250" rIns="95250" bIns="95250" rtlCol="0" anchor="t"/>
          <a:lstStyle/>
          <a:p>
            <a:pPr marL="0" indent="0" algn="ctr">
              <a:lnSpc>
                <a:spcPct val="113000"/>
              </a:lnSpc>
              <a:spcBef>
                <a:spcPts val="375"/>
              </a:spcBef>
              <a:buNone/>
            </a:pPr>
            <a:r>
              <a:rPr lang="en-US" sz="230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7" name="Text 4"/>
          <p:cNvSpPr/>
          <p:nvPr/>
        </p:nvSpPr>
        <p:spPr>
          <a:xfrm>
            <a:off x="5926970" y="2254644"/>
            <a:ext cx="3108960"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系统技术架构</a:t>
            </a:r>
            <a:endParaRPr lang="en-US" sz="1440" dirty="0"/>
          </a:p>
        </p:txBody>
      </p:sp>
      <p:sp>
        <p:nvSpPr>
          <p:cNvPr id="8" name="Text 5"/>
          <p:cNvSpPr/>
          <p:nvPr/>
        </p:nvSpPr>
        <p:spPr>
          <a:xfrm>
            <a:off x="5309951" y="2190636"/>
            <a:ext cx="713232" cy="621792"/>
          </a:xfrm>
          <a:prstGeom prst="rect">
            <a:avLst/>
          </a:prstGeom>
          <a:noFill/>
        </p:spPr>
        <p:txBody>
          <a:bodyPr wrap="square" lIns="95250" tIns="95250" rIns="95250" bIns="95250" rtlCol="0" anchor="t"/>
          <a:lstStyle/>
          <a:p>
            <a:pPr marL="0" indent="0" algn="ctr">
              <a:lnSpc>
                <a:spcPct val="113000"/>
              </a:lnSpc>
              <a:spcBef>
                <a:spcPts val="375"/>
              </a:spcBef>
              <a:buNone/>
            </a:pPr>
            <a:r>
              <a:rPr lang="en-US" sz="230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9" name="Text 6"/>
          <p:cNvSpPr/>
          <p:nvPr/>
        </p:nvSpPr>
        <p:spPr>
          <a:xfrm>
            <a:off x="2719539" y="2855575"/>
            <a:ext cx="3108960"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系统功能模块</a:t>
            </a:r>
            <a:endParaRPr lang="en-US" sz="1440" dirty="0"/>
          </a:p>
        </p:txBody>
      </p:sp>
      <p:sp>
        <p:nvSpPr>
          <p:cNvPr id="10" name="Text 7"/>
          <p:cNvSpPr/>
          <p:nvPr/>
        </p:nvSpPr>
        <p:spPr>
          <a:xfrm>
            <a:off x="2102521" y="2791567"/>
            <a:ext cx="713232" cy="621792"/>
          </a:xfrm>
          <a:prstGeom prst="rect">
            <a:avLst/>
          </a:prstGeom>
          <a:noFill/>
        </p:spPr>
        <p:txBody>
          <a:bodyPr wrap="square" lIns="95250" tIns="95250" rIns="95250" bIns="95250" rtlCol="0" anchor="t"/>
          <a:lstStyle/>
          <a:p>
            <a:pPr marL="0" indent="0" algn="ctr">
              <a:lnSpc>
                <a:spcPct val="113000"/>
              </a:lnSpc>
              <a:spcBef>
                <a:spcPts val="375"/>
              </a:spcBef>
              <a:buNone/>
            </a:pPr>
            <a:r>
              <a:rPr lang="en-US" sz="230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1" name="Text 8"/>
          <p:cNvSpPr/>
          <p:nvPr/>
        </p:nvSpPr>
        <p:spPr>
          <a:xfrm>
            <a:off x="5926970" y="2855575"/>
            <a:ext cx="3108960"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系统设计与实现</a:t>
            </a:r>
            <a:endParaRPr lang="en-US" sz="1440" dirty="0"/>
          </a:p>
        </p:txBody>
      </p:sp>
      <p:sp>
        <p:nvSpPr>
          <p:cNvPr id="12" name="Text 9"/>
          <p:cNvSpPr/>
          <p:nvPr/>
        </p:nvSpPr>
        <p:spPr>
          <a:xfrm>
            <a:off x="5309951" y="2791567"/>
            <a:ext cx="713232" cy="621792"/>
          </a:xfrm>
          <a:prstGeom prst="rect">
            <a:avLst/>
          </a:prstGeom>
          <a:noFill/>
        </p:spPr>
        <p:txBody>
          <a:bodyPr wrap="square" lIns="95250" tIns="95250" rIns="95250" bIns="95250" rtlCol="0" anchor="t"/>
          <a:lstStyle/>
          <a:p>
            <a:pPr marL="0" indent="0" algn="ctr">
              <a:lnSpc>
                <a:spcPct val="113000"/>
              </a:lnSpc>
              <a:spcBef>
                <a:spcPts val="375"/>
              </a:spcBef>
              <a:buNone/>
            </a:pPr>
            <a:r>
              <a:rPr lang="en-US" sz="230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13" name="Text 10"/>
          <p:cNvSpPr/>
          <p:nvPr/>
        </p:nvSpPr>
        <p:spPr>
          <a:xfrm>
            <a:off x="2719539" y="3456506"/>
            <a:ext cx="3108960"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系统测试与验证</a:t>
            </a:r>
            <a:endParaRPr lang="en-US" sz="1440" dirty="0"/>
          </a:p>
        </p:txBody>
      </p:sp>
      <p:sp>
        <p:nvSpPr>
          <p:cNvPr id="14" name="Text 11"/>
          <p:cNvSpPr/>
          <p:nvPr/>
        </p:nvSpPr>
        <p:spPr>
          <a:xfrm>
            <a:off x="2102521" y="3392498"/>
            <a:ext cx="713232" cy="621792"/>
          </a:xfrm>
          <a:prstGeom prst="rect">
            <a:avLst/>
          </a:prstGeom>
          <a:noFill/>
        </p:spPr>
        <p:txBody>
          <a:bodyPr wrap="square" lIns="95250" tIns="95250" rIns="95250" bIns="95250" rtlCol="0" anchor="t"/>
          <a:lstStyle/>
          <a:p>
            <a:pPr marL="0" indent="0" algn="ctr">
              <a:lnSpc>
                <a:spcPct val="113000"/>
              </a:lnSpc>
              <a:spcBef>
                <a:spcPts val="375"/>
              </a:spcBef>
              <a:buNone/>
            </a:pPr>
            <a:r>
              <a:rPr lang="en-US" sz="230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15" name="Text 12"/>
          <p:cNvSpPr/>
          <p:nvPr/>
        </p:nvSpPr>
        <p:spPr>
          <a:xfrm>
            <a:off x="5926970" y="3456506"/>
            <a:ext cx="3108960"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研究挑战与成果</a:t>
            </a:r>
            <a:endParaRPr lang="en-US" sz="1440" dirty="0"/>
          </a:p>
        </p:txBody>
      </p:sp>
      <p:sp>
        <p:nvSpPr>
          <p:cNvPr id="16" name="Text 13"/>
          <p:cNvSpPr/>
          <p:nvPr/>
        </p:nvSpPr>
        <p:spPr>
          <a:xfrm>
            <a:off x="5309951" y="3392498"/>
            <a:ext cx="713232" cy="621792"/>
          </a:xfrm>
          <a:prstGeom prst="rect">
            <a:avLst/>
          </a:prstGeom>
          <a:noFill/>
        </p:spPr>
        <p:txBody>
          <a:bodyPr wrap="square" lIns="95250" tIns="95250" rIns="95250" bIns="95250" rtlCol="0" anchor="t"/>
          <a:lstStyle/>
          <a:p>
            <a:pPr marL="0" indent="0" algn="ctr">
              <a:lnSpc>
                <a:spcPct val="113000"/>
              </a:lnSpc>
              <a:spcBef>
                <a:spcPts val="375"/>
              </a:spcBef>
              <a:buNone/>
            </a:pPr>
            <a:r>
              <a:rPr lang="en-US" sz="230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17" name="Text 14"/>
          <p:cNvSpPr/>
          <p:nvPr/>
        </p:nvSpPr>
        <p:spPr>
          <a:xfrm>
            <a:off x="2719620" y="4057437"/>
            <a:ext cx="3108960"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致谢部分内容</a:t>
            </a:r>
            <a:endParaRPr lang="en-US" sz="1440" dirty="0"/>
          </a:p>
        </p:txBody>
      </p:sp>
      <p:sp>
        <p:nvSpPr>
          <p:cNvPr id="18" name="Text 15"/>
          <p:cNvSpPr/>
          <p:nvPr/>
        </p:nvSpPr>
        <p:spPr>
          <a:xfrm>
            <a:off x="2102602" y="3993429"/>
            <a:ext cx="713232" cy="621792"/>
          </a:xfrm>
          <a:prstGeom prst="rect">
            <a:avLst/>
          </a:prstGeom>
          <a:noFill/>
        </p:spPr>
        <p:txBody>
          <a:bodyPr wrap="square" lIns="95250" tIns="95250" rIns="95250" bIns="95250" rtlCol="0" anchor="t"/>
          <a:lstStyle/>
          <a:p>
            <a:pPr marL="0" indent="0" algn="ctr">
              <a:lnSpc>
                <a:spcPct val="113000"/>
              </a:lnSpc>
              <a:spcBef>
                <a:spcPts val="375"/>
              </a:spcBef>
              <a:buNone/>
            </a:pPr>
            <a:r>
              <a:rPr lang="en-US" sz="230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84651" y="2343508"/>
            <a:ext cx="1477931" cy="1658064"/>
          </a:xfrm>
          <a:prstGeom prst="rect">
            <a:avLst/>
          </a:prstGeom>
          <a:noFill/>
        </p:spPr>
        <p:txBody>
          <a:bodyPr wrap="square" lIns="95250" tIns="95250" rIns="95250" bIns="95250" rtlCol="0" anchor="t"/>
          <a:lstStyle/>
          <a:p>
            <a:pPr marL="0" indent="0" algn="ctr">
              <a:lnSpc>
                <a:spcPct val="113000"/>
              </a:lnSpc>
              <a:spcBef>
                <a:spcPts val="375"/>
              </a:spcBef>
              <a:buNone/>
            </a:pPr>
            <a:r>
              <a:rPr lang="en-US" sz="7490" b="1" dirty="0">
                <a:solidFill>
                  <a:srgbClr val="FFFFFF">
                    <a:alpha val="20000"/>
                  </a:srgbClr>
                </a:solidFill>
                <a:latin typeface="Arial" panose="020B0604020202020204" pitchFamily="34" charset="0"/>
                <a:ea typeface="Arial" panose="020B0604020202020204" pitchFamily="34" charset="-122"/>
                <a:cs typeface="Arial" panose="020B0604020202020204" pitchFamily="34" charset="-120"/>
              </a:rPr>
              <a:t>01</a:t>
            </a:r>
            <a:endParaRPr lang="en-US" sz="1440" dirty="0"/>
          </a:p>
        </p:txBody>
      </p:sp>
      <p:sp>
        <p:nvSpPr>
          <p:cNvPr id="3" name="Text 1"/>
          <p:cNvSpPr/>
          <p:nvPr/>
        </p:nvSpPr>
        <p:spPr>
          <a:xfrm>
            <a:off x="702783" y="1782625"/>
            <a:ext cx="5622316" cy="841248"/>
          </a:xfrm>
          <a:prstGeom prst="rect">
            <a:avLst/>
          </a:prstGeom>
          <a:noFill/>
        </p:spPr>
        <p:txBody>
          <a:bodyPr wrap="square" lIns="95250" tIns="95250" rIns="95250" bIns="95250" rtlCol="0" anchor="t"/>
          <a:lstStyle/>
          <a:p>
            <a:pPr marL="0" indent="0">
              <a:lnSpc>
                <a:spcPct val="113000"/>
              </a:lnSpc>
              <a:spcBef>
                <a:spcPts val="375"/>
              </a:spcBef>
              <a:buNone/>
            </a:pPr>
            <a:r>
              <a:rPr lang="en-US" sz="3455" b="1" dirty="0">
                <a:solidFill>
                  <a:srgbClr val="F4BC42"/>
                </a:solidFill>
                <a:latin typeface="微软雅黑" panose="020B0503020204020204" pitchFamily="34" charset="-122"/>
                <a:ea typeface="微软雅黑" panose="020B0503020204020204" pitchFamily="34" charset="-122"/>
                <a:cs typeface="微软雅黑" panose="020B0503020204020204" pitchFamily="34" charset="-120"/>
              </a:rPr>
              <a:t>系统开发背景</a:t>
            </a:r>
            <a:endParaRPr lang="en-US" sz="1440" dirty="0"/>
          </a:p>
        </p:txBody>
      </p:sp>
      <p:sp>
        <p:nvSpPr>
          <p:cNvPr id="4" name="Shape 2"/>
          <p:cNvSpPr/>
          <p:nvPr/>
        </p:nvSpPr>
        <p:spPr>
          <a:xfrm>
            <a:off x="731979" y="2660031"/>
            <a:ext cx="4952103" cy="0"/>
          </a:xfrm>
          <a:custGeom>
            <a:avLst/>
            <a:gdLst/>
            <a:ahLst/>
            <a:cxnLst/>
            <a:rect l="l" t="t" r="r" b="b"/>
            <a:pathLst>
              <a:path w="4952103">
                <a:moveTo>
                  <a:pt x="0" y="0"/>
                </a:moveTo>
                <a:moveTo>
                  <a:pt x="0" y="0"/>
                </a:moveTo>
                <a:lnTo>
                  <a:pt x="4952103" y="0"/>
                </a:lnTo>
              </a:path>
            </a:pathLst>
          </a:custGeom>
          <a:noFill/>
          <a:ln w="66675">
            <a:solidFill>
              <a:srgbClr val="4B81CC"/>
            </a:solidFill>
            <a:prstDash val="solid"/>
            <a:headEnd type="none"/>
            <a:tailEnd type="non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信贷风险评估重要性</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sp>
        <p:nvSpPr>
          <p:cNvPr id="6" name="Text 3"/>
          <p:cNvSpPr/>
          <p:nvPr/>
        </p:nvSpPr>
        <p:spPr>
          <a:xfrm>
            <a:off x="2743200" y="1025863"/>
            <a:ext cx="3657600" cy="448056"/>
          </a:xfrm>
          <a:prstGeom prst="rect">
            <a:avLst/>
          </a:prstGeom>
          <a:noFill/>
        </p:spPr>
        <p:txBody>
          <a:bodyPr wrap="square" lIns="95250" tIns="95250" rIns="95250" bIns="95250" rtlCol="0" anchor="ctr"/>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促进经济增长和企业发展</a:t>
            </a:r>
            <a:endParaRPr lang="en-US" sz="1440" dirty="0"/>
          </a:p>
        </p:txBody>
      </p:sp>
      <p:sp>
        <p:nvSpPr>
          <p:cNvPr id="7" name="Text 4"/>
          <p:cNvSpPr/>
          <p:nvPr/>
        </p:nvSpPr>
        <p:spPr>
          <a:xfrm>
            <a:off x="2743200" y="1368172"/>
            <a:ext cx="3657600" cy="841248"/>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信贷业务作为金融机构的核心，对经济增长、企业发展和个人资金需求满足等方面起着至关重要的作用。通过信贷风险评估，可以确保贷款的合理分配，从而推动经济的稳定增长。</a:t>
            </a:r>
            <a:endParaRPr lang="en-US" sz="1440" dirty="0"/>
          </a:p>
        </p:txBody>
      </p:sp>
      <p:sp>
        <p:nvSpPr>
          <p:cNvPr id="8" name="Text 5"/>
          <p:cNvSpPr/>
          <p:nvPr/>
        </p:nvSpPr>
        <p:spPr>
          <a:xfrm>
            <a:off x="522708" y="2567541"/>
            <a:ext cx="3657600" cy="448056"/>
          </a:xfrm>
          <a:prstGeom prst="rect">
            <a:avLst/>
          </a:prstGeom>
          <a:noFill/>
        </p:spPr>
        <p:txBody>
          <a:bodyPr wrap="square" lIns="95250" tIns="95250" rIns="95250" bIns="95250" rtlCol="0" anchor="ctr"/>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识别和控制风险</a:t>
            </a:r>
            <a:endParaRPr lang="en-US" sz="1440" dirty="0"/>
          </a:p>
        </p:txBody>
      </p:sp>
      <p:sp>
        <p:nvSpPr>
          <p:cNvPr id="9" name="Text 6"/>
          <p:cNvSpPr/>
          <p:nvPr/>
        </p:nvSpPr>
        <p:spPr>
          <a:xfrm>
            <a:off x="522708" y="2899468"/>
            <a:ext cx="3657600" cy="841248"/>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随着信贷业务的快速发展，信用风险、市场风险和操作风险等不断积累。信贷风险评估可以帮助金融机构及时发现并控制这些风险，减少损失的可能性。</a:t>
            </a:r>
            <a:endParaRPr lang="en-US" sz="1440" dirty="0"/>
          </a:p>
        </p:txBody>
      </p:sp>
      <p:sp>
        <p:nvSpPr>
          <p:cNvPr id="10" name="Text 7"/>
          <p:cNvSpPr/>
          <p:nvPr/>
        </p:nvSpPr>
        <p:spPr>
          <a:xfrm>
            <a:off x="4963692" y="2567541"/>
            <a:ext cx="3657600" cy="448056"/>
          </a:xfrm>
          <a:prstGeom prst="rect">
            <a:avLst/>
          </a:prstGeom>
          <a:noFill/>
        </p:spPr>
        <p:txBody>
          <a:bodyPr wrap="square" lIns="95250" tIns="95250" rIns="95250" bIns="95250" rtlCol="0" anchor="ctr"/>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提高评估效率和准确性</a:t>
            </a:r>
            <a:endParaRPr lang="en-US" sz="1440" dirty="0"/>
          </a:p>
        </p:txBody>
      </p:sp>
      <p:sp>
        <p:nvSpPr>
          <p:cNvPr id="11" name="Text 8"/>
          <p:cNvSpPr/>
          <p:nvPr/>
        </p:nvSpPr>
        <p:spPr>
          <a:xfrm>
            <a:off x="4963692" y="2899468"/>
            <a:ext cx="3657600" cy="841248"/>
          </a:xfrm>
          <a:prstGeom prst="rect">
            <a:avLst/>
          </a:prstGeom>
          <a:noFill/>
        </p:spPr>
        <p:txBody>
          <a:bodyPr wrap="square" lIns="95250" tIns="95250" rIns="95250" bIns="95250" rtlCol="0" anchor="t"/>
          <a:lstStyle/>
          <a:p>
            <a:pPr marL="0" indent="0" algn="just">
              <a:lnSpc>
                <a:spcPct val="100000"/>
              </a:lnSpc>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传统的人工评估方式难以满足现代信贷业务对风险防控的高要求。借助先进的技术手段，如数据可视化分析与预测技术，可以提升信贷风险评估的效率与准确性。</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传统评估方法局限</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sp>
        <p:nvSpPr>
          <p:cNvPr id="6" name="Shape 3"/>
          <p:cNvSpPr/>
          <p:nvPr/>
        </p:nvSpPr>
        <p:spPr>
          <a:xfrm>
            <a:off x="801601" y="1138322"/>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7" name="Shape 4"/>
          <p:cNvSpPr/>
          <p:nvPr/>
        </p:nvSpPr>
        <p:spPr>
          <a:xfrm>
            <a:off x="1330124" y="1132915"/>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8" name="Shape 5"/>
          <p:cNvSpPr/>
          <p:nvPr/>
        </p:nvSpPr>
        <p:spPr>
          <a:xfrm>
            <a:off x="5495514" y="1529844"/>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9" name="Shape 6"/>
          <p:cNvSpPr/>
          <p:nvPr/>
        </p:nvSpPr>
        <p:spPr>
          <a:xfrm>
            <a:off x="2206032" y="3066458"/>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10" name="Text 7"/>
          <p:cNvSpPr/>
          <p:nvPr/>
        </p:nvSpPr>
        <p:spPr>
          <a:xfrm>
            <a:off x="703661" y="1129178"/>
            <a:ext cx="688194" cy="40233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1" name="Text 8"/>
          <p:cNvSpPr/>
          <p:nvPr/>
        </p:nvSpPr>
        <p:spPr>
          <a:xfrm>
            <a:off x="1330491" y="1187779"/>
            <a:ext cx="2944001" cy="402336"/>
          </a:xfrm>
          <a:prstGeom prst="rect">
            <a:avLst/>
          </a:prstGeom>
          <a:noFill/>
        </p:spPr>
        <p:txBody>
          <a:bodyPr wrap="square" lIns="95250" tIns="95250" rIns="95250" bIns="95250" rtlCol="0" anchor="t"/>
          <a:lstStyle/>
          <a:p>
            <a:pPr marL="0" indent="0">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依赖专家经验</a:t>
            </a:r>
            <a:endParaRPr lang="en-US" sz="1440" dirty="0"/>
          </a:p>
        </p:txBody>
      </p:sp>
      <p:sp>
        <p:nvSpPr>
          <p:cNvPr id="12" name="Text 9"/>
          <p:cNvSpPr/>
          <p:nvPr/>
        </p:nvSpPr>
        <p:spPr>
          <a:xfrm>
            <a:off x="1330491" y="1489531"/>
            <a:ext cx="2944368" cy="1024128"/>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传统评估方法主要依赖专家的经验和判断，这种方式容易受到个人主观因素的影响，导致评估结果可能存在误差，难以保证客观性和准确性。</a:t>
            </a:r>
            <a:endParaRPr lang="en-US" sz="1440" dirty="0"/>
          </a:p>
        </p:txBody>
      </p:sp>
      <p:sp>
        <p:nvSpPr>
          <p:cNvPr id="13" name="Text 10"/>
          <p:cNvSpPr/>
          <p:nvPr/>
        </p:nvSpPr>
        <p:spPr>
          <a:xfrm>
            <a:off x="5495971" y="1584691"/>
            <a:ext cx="2944368" cy="402336"/>
          </a:xfrm>
          <a:prstGeom prst="rect">
            <a:avLst/>
          </a:prstGeom>
          <a:noFill/>
        </p:spPr>
        <p:txBody>
          <a:bodyPr wrap="square" lIns="95250" tIns="95250" rIns="95250" bIns="95250" rtlCol="0" anchor="t"/>
          <a:lstStyle/>
          <a:p>
            <a:pPr marL="0" indent="0">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主观因素影响</a:t>
            </a:r>
            <a:endParaRPr lang="en-US" sz="1440" dirty="0"/>
          </a:p>
        </p:txBody>
      </p:sp>
      <p:sp>
        <p:nvSpPr>
          <p:cNvPr id="14" name="Text 11"/>
          <p:cNvSpPr/>
          <p:nvPr/>
        </p:nvSpPr>
        <p:spPr>
          <a:xfrm>
            <a:off x="5495514" y="1886460"/>
            <a:ext cx="2944368" cy="1024128"/>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由于传统评估方法过度依赖专家的个人经验，因此评估结果可能会受到专家个人情绪、偏见等主观因素的干扰，影响评估的公正性和可靠性。</a:t>
            </a:r>
            <a:endParaRPr lang="en-US" sz="1440" dirty="0"/>
          </a:p>
        </p:txBody>
      </p:sp>
      <p:sp>
        <p:nvSpPr>
          <p:cNvPr id="15" name="Text 12"/>
          <p:cNvSpPr/>
          <p:nvPr/>
        </p:nvSpPr>
        <p:spPr>
          <a:xfrm>
            <a:off x="2206075" y="3120882"/>
            <a:ext cx="2944001" cy="402336"/>
          </a:xfrm>
          <a:prstGeom prst="rect">
            <a:avLst/>
          </a:prstGeom>
          <a:noFill/>
        </p:spPr>
        <p:txBody>
          <a:bodyPr wrap="square" lIns="95250" tIns="95250" rIns="95250" bIns="95250" rtlCol="0" anchor="t"/>
          <a:lstStyle/>
          <a:p>
            <a:pPr marL="0" indent="0">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难以满足现代需求</a:t>
            </a:r>
            <a:endParaRPr lang="en-US" sz="1440" dirty="0"/>
          </a:p>
        </p:txBody>
      </p:sp>
      <p:sp>
        <p:nvSpPr>
          <p:cNvPr id="16" name="Text 13"/>
          <p:cNvSpPr/>
          <p:nvPr/>
        </p:nvSpPr>
        <p:spPr>
          <a:xfrm>
            <a:off x="2206075" y="3422634"/>
            <a:ext cx="2944368" cy="1024128"/>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随着信贷业务的快速发展和风险的不断积累，传统的人工评估方式已经无法满足现代信贷业务对风险防控的高要求，需要寻找新的评估方法来提高风险管理的效率和准确性。</a:t>
            </a:r>
            <a:endParaRPr lang="en-US" sz="1440" dirty="0"/>
          </a:p>
        </p:txBody>
      </p:sp>
      <p:sp>
        <p:nvSpPr>
          <p:cNvPr id="17" name="Shape 14"/>
          <p:cNvSpPr/>
          <p:nvPr/>
        </p:nvSpPr>
        <p:spPr>
          <a:xfrm>
            <a:off x="1677184" y="3071780"/>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18" name="Text 15"/>
          <p:cNvSpPr/>
          <p:nvPr/>
        </p:nvSpPr>
        <p:spPr>
          <a:xfrm>
            <a:off x="1604032" y="3066373"/>
            <a:ext cx="650309" cy="40233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9" name="Shape 16"/>
          <p:cNvSpPr/>
          <p:nvPr/>
        </p:nvSpPr>
        <p:spPr>
          <a:xfrm>
            <a:off x="4966302" y="1535251"/>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20" name="Text 17"/>
          <p:cNvSpPr/>
          <p:nvPr/>
        </p:nvSpPr>
        <p:spPr>
          <a:xfrm>
            <a:off x="4847430" y="1529844"/>
            <a:ext cx="739524" cy="40233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84651" y="2343508"/>
            <a:ext cx="1477931" cy="1658064"/>
          </a:xfrm>
          <a:prstGeom prst="rect">
            <a:avLst/>
          </a:prstGeom>
          <a:noFill/>
        </p:spPr>
        <p:txBody>
          <a:bodyPr wrap="square" lIns="95250" tIns="95250" rIns="95250" bIns="95250" rtlCol="0" anchor="t"/>
          <a:lstStyle/>
          <a:p>
            <a:pPr marL="0" indent="0" algn="ctr">
              <a:lnSpc>
                <a:spcPct val="113000"/>
              </a:lnSpc>
              <a:spcBef>
                <a:spcPts val="375"/>
              </a:spcBef>
              <a:buNone/>
            </a:pPr>
            <a:r>
              <a:rPr lang="en-US" sz="7490" b="1" dirty="0">
                <a:solidFill>
                  <a:srgbClr val="FFFFFF">
                    <a:alpha val="20000"/>
                  </a:srgbClr>
                </a:solidFill>
                <a:latin typeface="Arial" panose="020B0604020202020204" pitchFamily="34" charset="0"/>
                <a:ea typeface="Arial" panose="020B0604020202020204" pitchFamily="34" charset="-122"/>
                <a:cs typeface="Arial" panose="020B0604020202020204" pitchFamily="34" charset="-120"/>
              </a:rPr>
              <a:t>02</a:t>
            </a:r>
            <a:endParaRPr lang="en-US" sz="1440" dirty="0"/>
          </a:p>
        </p:txBody>
      </p:sp>
      <p:sp>
        <p:nvSpPr>
          <p:cNvPr id="3" name="Text 1"/>
          <p:cNvSpPr/>
          <p:nvPr/>
        </p:nvSpPr>
        <p:spPr>
          <a:xfrm>
            <a:off x="702783" y="1782625"/>
            <a:ext cx="5622316" cy="841248"/>
          </a:xfrm>
          <a:prstGeom prst="rect">
            <a:avLst/>
          </a:prstGeom>
          <a:noFill/>
        </p:spPr>
        <p:txBody>
          <a:bodyPr wrap="square" lIns="95250" tIns="95250" rIns="95250" bIns="95250" rtlCol="0" anchor="t"/>
          <a:lstStyle/>
          <a:p>
            <a:pPr marL="0" indent="0">
              <a:lnSpc>
                <a:spcPct val="113000"/>
              </a:lnSpc>
              <a:spcBef>
                <a:spcPts val="375"/>
              </a:spcBef>
              <a:buNone/>
            </a:pPr>
            <a:r>
              <a:rPr lang="en-US" sz="3455" b="1" dirty="0">
                <a:solidFill>
                  <a:srgbClr val="F4BC42"/>
                </a:solidFill>
                <a:latin typeface="微软雅黑" panose="020B0503020204020204" pitchFamily="34" charset="-122"/>
                <a:ea typeface="微软雅黑" panose="020B0503020204020204" pitchFamily="34" charset="-122"/>
                <a:cs typeface="微软雅黑" panose="020B0503020204020204" pitchFamily="34" charset="-120"/>
              </a:rPr>
              <a:t>系统技术架构</a:t>
            </a:r>
            <a:endParaRPr lang="en-US" sz="1440" dirty="0"/>
          </a:p>
        </p:txBody>
      </p:sp>
      <p:sp>
        <p:nvSpPr>
          <p:cNvPr id="4" name="Shape 2"/>
          <p:cNvSpPr/>
          <p:nvPr/>
        </p:nvSpPr>
        <p:spPr>
          <a:xfrm>
            <a:off x="731979" y="2660031"/>
            <a:ext cx="4952103" cy="0"/>
          </a:xfrm>
          <a:custGeom>
            <a:avLst/>
            <a:gdLst/>
            <a:ahLst/>
            <a:cxnLst/>
            <a:rect l="l" t="t" r="r" b="b"/>
            <a:pathLst>
              <a:path w="4952103">
                <a:moveTo>
                  <a:pt x="0" y="0"/>
                </a:moveTo>
                <a:moveTo>
                  <a:pt x="0" y="0"/>
                </a:moveTo>
                <a:lnTo>
                  <a:pt x="4952103" y="0"/>
                </a:lnTo>
              </a:path>
            </a:pathLst>
          </a:custGeom>
          <a:noFill/>
          <a:ln w="66675">
            <a:solidFill>
              <a:srgbClr val="4B81CC"/>
            </a:solidFill>
            <a:prstDash val="solid"/>
            <a:headEnd type="none"/>
            <a:tailEnd type="none"/>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Arial" panose="020B0604020202020204" pitchFamily="34" charset="0"/>
                <a:ea typeface="Arial" panose="020B0604020202020204" pitchFamily="34" charset="-122"/>
                <a:cs typeface="Arial" panose="020B0604020202020204" pitchFamily="34" charset="-120"/>
              </a:rPr>
              <a:t>Java</a:t>
            </a: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与</a:t>
            </a:r>
            <a:r>
              <a:rPr lang="en-US" sz="1870" b="1" dirty="0">
                <a:solidFill>
                  <a:srgbClr val="063065"/>
                </a:solidFill>
                <a:latin typeface="Arial" panose="020B0604020202020204" pitchFamily="34" charset="0"/>
                <a:ea typeface="Arial" panose="020B0604020202020204" pitchFamily="34" charset="-122"/>
                <a:cs typeface="Arial" panose="020B0604020202020204" pitchFamily="34" charset="-120"/>
              </a:rPr>
              <a:t>SpringBoot</a:t>
            </a: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应用</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4445428647e21444649188d8cc77730e66618.jpg?authorization=c2ltcGxlLWp3dCBhaz1zcGFya2Rlc2s4MDAwMDAwMDAwMDE7ZXhwPTMzMTkyODQzNDQ7YWxnbz1obWFjLXNoYTI1NjtzaWc9QXNtMDAwV1N4cFhoYzlGcDUwVDVydUNZUCs4K3Ivd2cvKzRsV2NmWm9xVT0=&amp;x_location=7YfmxI7B7uKO7jlRxIftd60wePD="/>
          <p:cNvPicPr>
            <a:picLocks noChangeAspect="1"/>
          </p:cNvPicPr>
          <p:nvPr/>
        </p:nvPicPr>
        <p:blipFill>
          <a:blip r:embed="rId3"/>
          <a:stretch>
            <a:fillRect/>
          </a:stretch>
        </p:blipFill>
        <p:spPr>
          <a:xfrm>
            <a:off x="888372" y="1088132"/>
            <a:ext cx="2283193" cy="1282693"/>
          </a:xfrm>
          <a:prstGeom prst="rect">
            <a:avLst/>
          </a:prstGeom>
        </p:spPr>
      </p:pic>
      <p:sp>
        <p:nvSpPr>
          <p:cNvPr id="7" name="Text 3"/>
          <p:cNvSpPr/>
          <p:nvPr/>
        </p:nvSpPr>
        <p:spPr>
          <a:xfrm>
            <a:off x="786384" y="2446016"/>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Java的面向对象特性</a:t>
            </a:r>
            <a:endParaRPr lang="en-US" sz="1440" dirty="0"/>
          </a:p>
        </p:txBody>
      </p:sp>
      <p:sp>
        <p:nvSpPr>
          <p:cNvPr id="8" name="Text 4"/>
          <p:cNvSpPr/>
          <p:nvPr/>
        </p:nvSpPr>
        <p:spPr>
          <a:xfrm>
            <a:off x="822960" y="3089331"/>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Java作为一种面向对象的编程语言，以其强大的封装、继承和多态性，为开发者提供了丰富的工具来构建模块化和可重用的代码，极大地提高了软件开发的效率和质量。</a:t>
            </a:r>
            <a:endParaRPr lang="en-US" sz="1440" dirty="0"/>
          </a:p>
        </p:txBody>
      </p:sp>
      <p:pic>
        <p:nvPicPr>
          <p:cNvPr id="9" name="Image 2" descr="https://sgw-dx.xf-yun.com/api/v1/sparkdesk/_17424843476144c23ec9b808e485a8084547f2c5eb3d2.jpg?authorization=c2ltcGxlLWp3dCBhaz1zcGFya2Rlc2s4MDAwMDAwMDAwMDE7ZXhwPTMzMTkyODQzNDc7YWxnbz1obWFjLXNoYTI1NjtzaWc9aVdjTXNobGk4Q3BMUUttSGJoNVZhMmRNcVVDblFzVGdqVTQ3RGR0Rlgrdz0=&amp;x_location=7YfmxI7B7uKO7jlRxIftd60wePD="/>
          <p:cNvPicPr>
            <a:picLocks noChangeAspect="1"/>
          </p:cNvPicPr>
          <p:nvPr/>
        </p:nvPicPr>
        <p:blipFill>
          <a:blip r:embed="rId4"/>
          <a:stretch>
            <a:fillRect/>
          </a:stretch>
        </p:blipFill>
        <p:spPr>
          <a:xfrm>
            <a:off x="3466980" y="1088132"/>
            <a:ext cx="2283193" cy="1282693"/>
          </a:xfrm>
          <a:prstGeom prst="rect">
            <a:avLst/>
          </a:prstGeom>
        </p:spPr>
      </p:pic>
      <p:sp>
        <p:nvSpPr>
          <p:cNvPr id="10" name="Text 5"/>
          <p:cNvSpPr/>
          <p:nvPr/>
        </p:nvSpPr>
        <p:spPr>
          <a:xfrm>
            <a:off x="3328416" y="2446016"/>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Spring Boot的简化开发</a:t>
            </a:r>
            <a:endParaRPr lang="en-US" sz="1440" dirty="0"/>
          </a:p>
        </p:txBody>
      </p:sp>
      <p:sp>
        <p:nvSpPr>
          <p:cNvPr id="11" name="Text 6"/>
          <p:cNvSpPr/>
          <p:nvPr/>
        </p:nvSpPr>
        <p:spPr>
          <a:xfrm>
            <a:off x="3401568" y="3089331"/>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Spring Boot通过提供预设的配置和模板，简化了Spring应用的开发过程。它支持自动配置和内嵌服务器，使得开发者可以快速搭建并运行一个Spring应用，从而提高了开发效率。</a:t>
            </a:r>
            <a:endParaRPr lang="en-US" sz="1440" dirty="0"/>
          </a:p>
        </p:txBody>
      </p:sp>
      <p:pic>
        <p:nvPicPr>
          <p:cNvPr id="12" name="Image 3" descr="https://sgw-dx.xf-yun.com/api/v1/sparkdesk/_1742484350886112ac4c12def4f3a9ef89a43e03bcee4.jpg?authorization=c2ltcGxlLWp3dCBhaz1zcGFya2Rlc2s4MDAwMDAwMDAwMDE7ZXhwPTMzMTkyODQzNTA7YWxnbz1obWFjLXNoYTI1NjtzaWc9WEUyWThsQkxmdUVpWHg3dVJiYzFBektWYXIyWkJNeDZaQ0dpbmJ0d0k5OD0=&amp;x_location=7YfmxI7B7uKO7jlRxIftd60wePD="/>
          <p:cNvPicPr>
            <a:picLocks noChangeAspect="1"/>
          </p:cNvPicPr>
          <p:nvPr/>
        </p:nvPicPr>
        <p:blipFill>
          <a:blip r:embed="rId5"/>
          <a:stretch>
            <a:fillRect/>
          </a:stretch>
        </p:blipFill>
        <p:spPr>
          <a:xfrm>
            <a:off x="6009012" y="1088132"/>
            <a:ext cx="2283193" cy="1282693"/>
          </a:xfrm>
          <a:prstGeom prst="rect">
            <a:avLst/>
          </a:prstGeom>
        </p:spPr>
      </p:pic>
      <p:sp>
        <p:nvSpPr>
          <p:cNvPr id="13" name="Text 7"/>
          <p:cNvSpPr/>
          <p:nvPr/>
        </p:nvSpPr>
        <p:spPr>
          <a:xfrm>
            <a:off x="5870448" y="2447488"/>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Java与SpringBoot的结合应用</a:t>
            </a:r>
            <a:endParaRPr lang="en-US" sz="1440" dirty="0"/>
          </a:p>
        </p:txBody>
      </p:sp>
      <p:sp>
        <p:nvSpPr>
          <p:cNvPr id="14" name="Text 8"/>
          <p:cNvSpPr/>
          <p:nvPr/>
        </p:nvSpPr>
        <p:spPr>
          <a:xfrm>
            <a:off x="5943600" y="3090803"/>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在本系统中，Java主要负责编写业务逻辑和后台处理代码，而Spring Boot则提供了一个轻量级的框架来简化这些任务。这种结合使得系统能够高效地运行，同时也提高了代码的可维护性和可扩展性。</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Arial" panose="020B0604020202020204" pitchFamily="34" charset="0"/>
                <a:ea typeface="Arial" panose="020B0604020202020204" pitchFamily="34" charset="-122"/>
                <a:cs typeface="Arial" panose="020B0604020202020204" pitchFamily="34" charset="-120"/>
              </a:rPr>
              <a:t>Hadoop</a:t>
            </a: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大数据处理</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50584504d548b9053460e960ce404cae0a825.jpg?authorization=c2ltcGxlLWp3dCBhaz1zcGFya2Rlc2s4MDAwMDAwMDAwMDE7ZXhwPTMzMTkyODQzNTA7YWxnbz1obWFjLXNoYTI1NjtzaWc9MlFPVjh2cGtEWWJiUHF2T1FzYXdPenBIL0FkeUovL0s5L0hxa2RQemNNbz0=&amp;x_location=7YfmxI7B7uKO7jlRxIftd60wePD="/>
          <p:cNvPicPr>
            <a:picLocks noChangeAspect="1"/>
          </p:cNvPicPr>
          <p:nvPr/>
        </p:nvPicPr>
        <p:blipFill>
          <a:blip r:embed="rId3"/>
          <a:stretch>
            <a:fillRect/>
          </a:stretch>
        </p:blipFill>
        <p:spPr>
          <a:xfrm>
            <a:off x="445242" y="1227435"/>
            <a:ext cx="2831634" cy="2831634"/>
          </a:xfrm>
          <a:prstGeom prst="rect">
            <a:avLst/>
          </a:prstGeom>
        </p:spPr>
      </p:pic>
      <p:sp>
        <p:nvSpPr>
          <p:cNvPr id="7" name="Text 3"/>
          <p:cNvSpPr/>
          <p:nvPr/>
        </p:nvSpPr>
        <p:spPr>
          <a:xfrm>
            <a:off x="3485040" y="1130659"/>
            <a:ext cx="3309781"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Hadoop的分布式存储</a:t>
            </a:r>
            <a:endParaRPr lang="en-US" sz="1440" dirty="0"/>
          </a:p>
        </p:txBody>
      </p:sp>
      <p:sp>
        <p:nvSpPr>
          <p:cNvPr id="8" name="Text 4"/>
          <p:cNvSpPr/>
          <p:nvPr/>
        </p:nvSpPr>
        <p:spPr>
          <a:xfrm>
            <a:off x="3485040" y="1427243"/>
            <a:ext cx="5212080" cy="621792"/>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Hadoop通过其核心组件HDFS实现数据的分布式存储，将大文件分割成多个块并分布在不同的节点上，确保了数据的安全性和高可用性。</a:t>
            </a:r>
            <a:endParaRPr lang="en-US" sz="1440" dirty="0"/>
          </a:p>
        </p:txBody>
      </p:sp>
      <p:sp>
        <p:nvSpPr>
          <p:cNvPr id="9" name="Text 5"/>
          <p:cNvSpPr/>
          <p:nvPr/>
        </p:nvSpPr>
        <p:spPr>
          <a:xfrm>
            <a:off x="3485040" y="2158619"/>
            <a:ext cx="4507439"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MapReduce并行计算模型</a:t>
            </a:r>
            <a:endParaRPr lang="en-US" sz="1440" dirty="0"/>
          </a:p>
        </p:txBody>
      </p:sp>
      <p:sp>
        <p:nvSpPr>
          <p:cNvPr id="10" name="Text 6"/>
          <p:cNvSpPr/>
          <p:nvPr/>
        </p:nvSpPr>
        <p:spPr>
          <a:xfrm>
            <a:off x="3485040" y="2463259"/>
            <a:ext cx="5212080" cy="621792"/>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MapReduce是Hadoop的分布式计算编程模型，它将数据处理任务分为Map和Reduce两个阶段，能够有效地处理大规模数据集，提高计算效率。</a:t>
            </a:r>
            <a:endParaRPr lang="en-US" sz="1440" dirty="0"/>
          </a:p>
        </p:txBody>
      </p:sp>
      <p:sp>
        <p:nvSpPr>
          <p:cNvPr id="11" name="Text 7"/>
          <p:cNvSpPr/>
          <p:nvPr/>
        </p:nvSpPr>
        <p:spPr>
          <a:xfrm>
            <a:off x="3485040" y="3194618"/>
            <a:ext cx="4861995"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大数据处理的应用范围</a:t>
            </a:r>
            <a:endParaRPr lang="en-US" sz="1440" dirty="0"/>
          </a:p>
        </p:txBody>
      </p:sp>
      <p:sp>
        <p:nvSpPr>
          <p:cNvPr id="12" name="Text 8"/>
          <p:cNvSpPr/>
          <p:nvPr/>
        </p:nvSpPr>
        <p:spPr>
          <a:xfrm>
            <a:off x="3485040" y="3491058"/>
            <a:ext cx="5213718" cy="621792"/>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Hadoop因其高效的数据处理能力和强大的可扩展性，被广泛应用于日志分析、数据挖掘、机器学习等领域，助力企业从海量数据中提取价值。</a:t>
            </a:r>
            <a:endParaRPr lang="en-US" sz="14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84651" y="2343508"/>
            <a:ext cx="1477931" cy="1658064"/>
          </a:xfrm>
          <a:prstGeom prst="rect">
            <a:avLst/>
          </a:prstGeom>
          <a:noFill/>
        </p:spPr>
        <p:txBody>
          <a:bodyPr wrap="square" lIns="95250" tIns="95250" rIns="95250" bIns="95250" rtlCol="0" anchor="t"/>
          <a:lstStyle/>
          <a:p>
            <a:pPr marL="0" indent="0" algn="ctr">
              <a:lnSpc>
                <a:spcPct val="113000"/>
              </a:lnSpc>
              <a:spcBef>
                <a:spcPts val="375"/>
              </a:spcBef>
              <a:buNone/>
            </a:pPr>
            <a:r>
              <a:rPr lang="en-US" sz="7490" b="1" dirty="0">
                <a:solidFill>
                  <a:srgbClr val="FFFFFF">
                    <a:alpha val="20000"/>
                  </a:srgbClr>
                </a:solidFill>
                <a:latin typeface="Arial" panose="020B0604020202020204" pitchFamily="34" charset="0"/>
                <a:ea typeface="Arial" panose="020B0604020202020204" pitchFamily="34" charset="-122"/>
                <a:cs typeface="Arial" panose="020B0604020202020204" pitchFamily="34" charset="-120"/>
              </a:rPr>
              <a:t>03</a:t>
            </a:r>
            <a:endParaRPr lang="en-US" sz="1440" dirty="0"/>
          </a:p>
        </p:txBody>
      </p:sp>
      <p:sp>
        <p:nvSpPr>
          <p:cNvPr id="3" name="Text 1"/>
          <p:cNvSpPr/>
          <p:nvPr/>
        </p:nvSpPr>
        <p:spPr>
          <a:xfrm>
            <a:off x="702783" y="1782625"/>
            <a:ext cx="5622316" cy="841248"/>
          </a:xfrm>
          <a:prstGeom prst="rect">
            <a:avLst/>
          </a:prstGeom>
          <a:noFill/>
        </p:spPr>
        <p:txBody>
          <a:bodyPr wrap="square" lIns="95250" tIns="95250" rIns="95250" bIns="95250" rtlCol="0" anchor="t"/>
          <a:lstStyle/>
          <a:p>
            <a:pPr marL="0" indent="0">
              <a:lnSpc>
                <a:spcPct val="113000"/>
              </a:lnSpc>
              <a:spcBef>
                <a:spcPts val="375"/>
              </a:spcBef>
              <a:buNone/>
            </a:pPr>
            <a:r>
              <a:rPr lang="en-US" sz="3455" b="1" dirty="0">
                <a:solidFill>
                  <a:srgbClr val="F4BC42"/>
                </a:solidFill>
                <a:latin typeface="微软雅黑" panose="020B0503020204020204" pitchFamily="34" charset="-122"/>
                <a:ea typeface="微软雅黑" panose="020B0503020204020204" pitchFamily="34" charset="-122"/>
                <a:cs typeface="微软雅黑" panose="020B0503020204020204" pitchFamily="34" charset="-120"/>
              </a:rPr>
              <a:t>系统功能模块</a:t>
            </a:r>
            <a:endParaRPr lang="en-US" sz="1440" dirty="0"/>
          </a:p>
        </p:txBody>
      </p:sp>
      <p:sp>
        <p:nvSpPr>
          <p:cNvPr id="4" name="Shape 2"/>
          <p:cNvSpPr/>
          <p:nvPr/>
        </p:nvSpPr>
        <p:spPr>
          <a:xfrm>
            <a:off x="731979" y="2660031"/>
            <a:ext cx="4952103" cy="0"/>
          </a:xfrm>
          <a:custGeom>
            <a:avLst/>
            <a:gdLst/>
            <a:ahLst/>
            <a:cxnLst/>
            <a:rect l="l" t="t" r="r" b="b"/>
            <a:pathLst>
              <a:path w="4952103">
                <a:moveTo>
                  <a:pt x="0" y="0"/>
                </a:moveTo>
                <a:moveTo>
                  <a:pt x="0" y="0"/>
                </a:moveTo>
                <a:lnTo>
                  <a:pt x="4952103" y="0"/>
                </a:lnTo>
              </a:path>
            </a:pathLst>
          </a:custGeom>
          <a:noFill/>
          <a:ln w="66675">
            <a:solidFill>
              <a:srgbClr val="4B81CC"/>
            </a:solidFill>
            <a:prstDash val="solid"/>
            <a:headEnd type="none"/>
            <a:tailEnd type="none"/>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首页导航设计</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sp>
        <p:nvSpPr>
          <p:cNvPr id="6" name="Shape 3"/>
          <p:cNvSpPr/>
          <p:nvPr/>
        </p:nvSpPr>
        <p:spPr>
          <a:xfrm>
            <a:off x="801601" y="1138322"/>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7" name="Shape 4"/>
          <p:cNvSpPr/>
          <p:nvPr/>
        </p:nvSpPr>
        <p:spPr>
          <a:xfrm>
            <a:off x="1330124" y="1132915"/>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8" name="Shape 5"/>
          <p:cNvSpPr/>
          <p:nvPr/>
        </p:nvSpPr>
        <p:spPr>
          <a:xfrm>
            <a:off x="5495514" y="1529844"/>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9" name="Shape 6"/>
          <p:cNvSpPr/>
          <p:nvPr/>
        </p:nvSpPr>
        <p:spPr>
          <a:xfrm>
            <a:off x="2206032" y="3066458"/>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0084FF">
              <a:alpha val="10000"/>
            </a:srgbClr>
          </a:solidFill>
        </p:spPr>
      </p:sp>
      <p:sp>
        <p:nvSpPr>
          <p:cNvPr id="10" name="Text 7"/>
          <p:cNvSpPr/>
          <p:nvPr/>
        </p:nvSpPr>
        <p:spPr>
          <a:xfrm>
            <a:off x="703661" y="1129178"/>
            <a:ext cx="688194" cy="40233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1" name="Text 8"/>
          <p:cNvSpPr/>
          <p:nvPr/>
        </p:nvSpPr>
        <p:spPr>
          <a:xfrm>
            <a:off x="1330491" y="1187779"/>
            <a:ext cx="2944001" cy="402336"/>
          </a:xfrm>
          <a:prstGeom prst="rect">
            <a:avLst/>
          </a:prstGeom>
          <a:noFill/>
        </p:spPr>
        <p:txBody>
          <a:bodyPr wrap="square" lIns="95250" tIns="95250" rIns="95250" bIns="95250" rtlCol="0" anchor="t"/>
          <a:lstStyle/>
          <a:p>
            <a:pPr marL="0" indent="0">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首页导航设计的重要性</a:t>
            </a:r>
            <a:endParaRPr lang="en-US" sz="1440" dirty="0"/>
          </a:p>
        </p:txBody>
      </p:sp>
      <p:sp>
        <p:nvSpPr>
          <p:cNvPr id="12" name="Text 9"/>
          <p:cNvSpPr/>
          <p:nvPr/>
        </p:nvSpPr>
        <p:spPr>
          <a:xfrm>
            <a:off x="1330491" y="1489531"/>
            <a:ext cx="2944368" cy="1024128"/>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首页导航设计是用户进入系统后的第一个界面，它提供了一个直观的导航入口，整合了系统的主要功能模块。这样的设计方便用户快速定位到他们需要操作的功能区域，提升了用户体验和效率。</a:t>
            </a:r>
            <a:endParaRPr lang="en-US" sz="1440" dirty="0"/>
          </a:p>
        </p:txBody>
      </p:sp>
      <p:sp>
        <p:nvSpPr>
          <p:cNvPr id="13" name="Text 10"/>
          <p:cNvSpPr/>
          <p:nvPr/>
        </p:nvSpPr>
        <p:spPr>
          <a:xfrm>
            <a:off x="5495971" y="1584691"/>
            <a:ext cx="2944368" cy="402336"/>
          </a:xfrm>
          <a:prstGeom prst="rect">
            <a:avLst/>
          </a:prstGeom>
          <a:noFill/>
        </p:spPr>
        <p:txBody>
          <a:bodyPr wrap="square" lIns="95250" tIns="95250" rIns="95250" bIns="95250" rtlCol="0" anchor="t"/>
          <a:lstStyle/>
          <a:p>
            <a:pPr marL="0" indent="0">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首页导航设计的原则</a:t>
            </a:r>
            <a:endParaRPr lang="en-US" sz="1440" dirty="0"/>
          </a:p>
        </p:txBody>
      </p:sp>
      <p:sp>
        <p:nvSpPr>
          <p:cNvPr id="14" name="Text 11"/>
          <p:cNvSpPr/>
          <p:nvPr/>
        </p:nvSpPr>
        <p:spPr>
          <a:xfrm>
            <a:off x="5495514" y="1886460"/>
            <a:ext cx="2944368" cy="1024128"/>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在设计首页导航时，应遵循简洁明了、易于理解和使用的原则。同时，还需要考虑用户的使用习惯和需求，以及系统的功能性和可用性。</a:t>
            </a:r>
            <a:endParaRPr lang="en-US" sz="1440" dirty="0"/>
          </a:p>
        </p:txBody>
      </p:sp>
      <p:sp>
        <p:nvSpPr>
          <p:cNvPr id="15" name="Text 12"/>
          <p:cNvSpPr/>
          <p:nvPr/>
        </p:nvSpPr>
        <p:spPr>
          <a:xfrm>
            <a:off x="2206075" y="3120882"/>
            <a:ext cx="2944001" cy="402336"/>
          </a:xfrm>
          <a:prstGeom prst="rect">
            <a:avLst/>
          </a:prstGeom>
          <a:noFill/>
        </p:spPr>
        <p:txBody>
          <a:bodyPr wrap="square" lIns="95250" tIns="95250" rIns="95250" bIns="95250" rtlCol="0" anchor="t"/>
          <a:lstStyle/>
          <a:p>
            <a:pPr marL="0" indent="0">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首页导航设计的优化策略</a:t>
            </a:r>
            <a:endParaRPr lang="en-US" sz="1440" dirty="0"/>
          </a:p>
        </p:txBody>
      </p:sp>
      <p:sp>
        <p:nvSpPr>
          <p:cNvPr id="16" name="Text 13"/>
          <p:cNvSpPr/>
          <p:nvPr/>
        </p:nvSpPr>
        <p:spPr>
          <a:xfrm>
            <a:off x="2206075" y="3422634"/>
            <a:ext cx="2944368" cy="1024128"/>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为了提升用户体验，可以采用一些优化策略，如提供清晰的导航路径、使用图标或颜色区分不同的功能模块、添加搜索框等。</a:t>
            </a:r>
            <a:endParaRPr lang="en-US" sz="1440" dirty="0"/>
          </a:p>
        </p:txBody>
      </p:sp>
      <p:sp>
        <p:nvSpPr>
          <p:cNvPr id="17" name="Shape 14"/>
          <p:cNvSpPr/>
          <p:nvPr/>
        </p:nvSpPr>
        <p:spPr>
          <a:xfrm>
            <a:off x="1677184" y="3071780"/>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18" name="Text 15"/>
          <p:cNvSpPr/>
          <p:nvPr/>
        </p:nvSpPr>
        <p:spPr>
          <a:xfrm>
            <a:off x="1604032" y="3066373"/>
            <a:ext cx="650309" cy="40233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9" name="Shape 16"/>
          <p:cNvSpPr/>
          <p:nvPr/>
        </p:nvSpPr>
        <p:spPr>
          <a:xfrm>
            <a:off x="4966302" y="1535251"/>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0084FF"/>
          </a:solidFill>
        </p:spPr>
      </p:sp>
      <p:sp>
        <p:nvSpPr>
          <p:cNvPr id="20" name="Text 17"/>
          <p:cNvSpPr/>
          <p:nvPr/>
        </p:nvSpPr>
        <p:spPr>
          <a:xfrm>
            <a:off x="4847430" y="1529844"/>
            <a:ext cx="739524" cy="40233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个人中心与用户管理</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sp>
        <p:nvSpPr>
          <p:cNvPr id="6" name="Shape 3"/>
          <p:cNvSpPr/>
          <p:nvPr/>
        </p:nvSpPr>
        <p:spPr>
          <a:xfrm>
            <a:off x="603401" y="1099566"/>
            <a:ext cx="7497539" cy="1021473"/>
          </a:xfrm>
          <a:custGeom>
            <a:avLst/>
            <a:gdLst/>
            <a:ahLst/>
            <a:cxnLst/>
            <a:rect l="l" t="t" r="r" b="b"/>
            <a:pathLst>
              <a:path w="7497539" h="1021473">
                <a:moveTo>
                  <a:pt x="127684" y="0"/>
                </a:moveTo>
                <a:moveTo>
                  <a:pt x="127684" y="0"/>
                </a:moveTo>
                <a:lnTo>
                  <a:pt x="7369855" y="0"/>
                </a:lnTo>
                <a:quadBezTo>
                  <a:pt x="7497539" y="0"/>
                  <a:pt x="7497539" y="127684"/>
                </a:quadBezTo>
                <a:lnTo>
                  <a:pt x="7497539" y="893789"/>
                </a:lnTo>
                <a:quadBezTo>
                  <a:pt x="7497539" y="1021473"/>
                  <a:pt x="7369855" y="1021473"/>
                </a:quadBezTo>
                <a:lnTo>
                  <a:pt x="127684" y="1021473"/>
                </a:lnTo>
                <a:quadBezTo>
                  <a:pt x="0" y="1021473"/>
                  <a:pt x="0" y="893789"/>
                </a:quadBezTo>
                <a:lnTo>
                  <a:pt x="0" y="127684"/>
                </a:lnTo>
                <a:quadBezTo>
                  <a:pt x="0" y="0"/>
                  <a:pt x="127684" y="0"/>
                </a:quadBezTo>
                <a:close/>
              </a:path>
            </a:pathLst>
          </a:custGeom>
          <a:solidFill>
            <a:srgbClr val="E1E1E1">
              <a:alpha val="20000"/>
            </a:srgbClr>
          </a:solidFill>
        </p:spPr>
      </p:sp>
      <p:sp>
        <p:nvSpPr>
          <p:cNvPr id="7" name="Shape 4"/>
          <p:cNvSpPr/>
          <p:nvPr/>
        </p:nvSpPr>
        <p:spPr>
          <a:xfrm>
            <a:off x="603401" y="3263375"/>
            <a:ext cx="7497539" cy="914400"/>
          </a:xfrm>
          <a:custGeom>
            <a:avLst/>
            <a:gdLst/>
            <a:ahLst/>
            <a:cxnLst/>
            <a:rect l="l" t="t" r="r" b="b"/>
            <a:pathLst>
              <a:path w="7497539" h="914400">
                <a:moveTo>
                  <a:pt x="114300" y="0"/>
                </a:moveTo>
                <a:moveTo>
                  <a:pt x="114300" y="0"/>
                </a:moveTo>
                <a:lnTo>
                  <a:pt x="7383239" y="0"/>
                </a:lnTo>
                <a:quadBezTo>
                  <a:pt x="7497539" y="0"/>
                  <a:pt x="7497539" y="114300"/>
                </a:quadBezTo>
                <a:lnTo>
                  <a:pt x="7497539" y="800100"/>
                </a:lnTo>
                <a:quadBezTo>
                  <a:pt x="7497539" y="914400"/>
                  <a:pt x="7383239" y="914400"/>
                </a:quadBezTo>
                <a:lnTo>
                  <a:pt x="114300" y="914400"/>
                </a:lnTo>
                <a:quadBezTo>
                  <a:pt x="0" y="914400"/>
                  <a:pt x="0" y="800100"/>
                </a:quadBezTo>
                <a:lnTo>
                  <a:pt x="0" y="114300"/>
                </a:lnTo>
                <a:quadBezTo>
                  <a:pt x="0" y="0"/>
                  <a:pt x="114300" y="0"/>
                </a:quadBezTo>
                <a:close/>
              </a:path>
            </a:pathLst>
          </a:custGeom>
          <a:solidFill>
            <a:srgbClr val="E1E1E1">
              <a:alpha val="20000"/>
            </a:srgbClr>
          </a:solidFill>
        </p:spPr>
      </p:sp>
      <p:sp>
        <p:nvSpPr>
          <p:cNvPr id="8" name="Shape 5"/>
          <p:cNvSpPr/>
          <p:nvPr/>
        </p:nvSpPr>
        <p:spPr>
          <a:xfrm rot="-8100000">
            <a:off x="8148204" y="3558047"/>
            <a:ext cx="325055" cy="325055"/>
          </a:xfrm>
          <a:custGeom>
            <a:avLst/>
            <a:gdLst/>
            <a:ahLst/>
            <a:cxnLst/>
            <a:rect l="l" t="t" r="r" b="b"/>
            <a:pathLst>
              <a:path w="325055" h="325055">
                <a:moveTo>
                  <a:pt x="0" y="0"/>
                </a:moveTo>
                <a:moveTo>
                  <a:pt x="0" y="0"/>
                </a:moveTo>
                <a:lnTo>
                  <a:pt x="0" y="325055"/>
                </a:lnTo>
                <a:lnTo>
                  <a:pt x="325055" y="325055"/>
                </a:lnTo>
                <a:close/>
              </a:path>
            </a:pathLst>
          </a:custGeom>
          <a:solidFill>
            <a:srgbClr val="E1E1E1">
              <a:alpha val="20000"/>
            </a:srgbClr>
          </a:solidFill>
        </p:spPr>
      </p:sp>
      <p:sp>
        <p:nvSpPr>
          <p:cNvPr id="9" name="Shape 6"/>
          <p:cNvSpPr/>
          <p:nvPr/>
        </p:nvSpPr>
        <p:spPr>
          <a:xfrm>
            <a:off x="603401" y="2248391"/>
            <a:ext cx="7497539" cy="914400"/>
          </a:xfrm>
          <a:custGeom>
            <a:avLst/>
            <a:gdLst/>
            <a:ahLst/>
            <a:cxnLst/>
            <a:rect l="l" t="t" r="r" b="b"/>
            <a:pathLst>
              <a:path w="7497539" h="914400">
                <a:moveTo>
                  <a:pt x="114300" y="0"/>
                </a:moveTo>
                <a:moveTo>
                  <a:pt x="114300" y="0"/>
                </a:moveTo>
                <a:lnTo>
                  <a:pt x="7383239" y="0"/>
                </a:lnTo>
                <a:quadBezTo>
                  <a:pt x="7497539" y="0"/>
                  <a:pt x="7497539" y="114300"/>
                </a:quadBezTo>
                <a:lnTo>
                  <a:pt x="7497539" y="800100"/>
                </a:lnTo>
                <a:quadBezTo>
                  <a:pt x="7497539" y="914400"/>
                  <a:pt x="7383239" y="914400"/>
                </a:quadBezTo>
                <a:lnTo>
                  <a:pt x="114300" y="914400"/>
                </a:lnTo>
                <a:quadBezTo>
                  <a:pt x="0" y="914400"/>
                  <a:pt x="0" y="800100"/>
                </a:quadBezTo>
                <a:lnTo>
                  <a:pt x="0" y="114300"/>
                </a:lnTo>
                <a:quadBezTo>
                  <a:pt x="0" y="0"/>
                  <a:pt x="114300" y="0"/>
                </a:quadBezTo>
                <a:close/>
              </a:path>
            </a:pathLst>
          </a:custGeom>
          <a:solidFill>
            <a:srgbClr val="E1E1E1">
              <a:alpha val="20000"/>
            </a:srgbClr>
          </a:solidFill>
        </p:spPr>
      </p:sp>
      <p:sp>
        <p:nvSpPr>
          <p:cNvPr id="10" name="Shape 7"/>
          <p:cNvSpPr/>
          <p:nvPr/>
        </p:nvSpPr>
        <p:spPr>
          <a:xfrm rot="-8100000">
            <a:off x="8148223" y="2543063"/>
            <a:ext cx="325055" cy="325055"/>
          </a:xfrm>
          <a:custGeom>
            <a:avLst/>
            <a:gdLst/>
            <a:ahLst/>
            <a:cxnLst/>
            <a:rect l="l" t="t" r="r" b="b"/>
            <a:pathLst>
              <a:path w="325055" h="325055">
                <a:moveTo>
                  <a:pt x="0" y="0"/>
                </a:moveTo>
                <a:moveTo>
                  <a:pt x="0" y="0"/>
                </a:moveTo>
                <a:lnTo>
                  <a:pt x="0" y="325055"/>
                </a:lnTo>
                <a:lnTo>
                  <a:pt x="325055" y="325055"/>
                </a:lnTo>
                <a:close/>
              </a:path>
            </a:pathLst>
          </a:custGeom>
          <a:solidFill>
            <a:srgbClr val="E1E1E1">
              <a:alpha val="20000"/>
            </a:srgbClr>
          </a:solidFill>
        </p:spPr>
      </p:sp>
      <p:sp>
        <p:nvSpPr>
          <p:cNvPr id="11" name="Shape 8"/>
          <p:cNvSpPr/>
          <p:nvPr/>
        </p:nvSpPr>
        <p:spPr>
          <a:xfrm rot="-8100000">
            <a:off x="8148185" y="1394239"/>
            <a:ext cx="325055" cy="325055"/>
          </a:xfrm>
          <a:custGeom>
            <a:avLst/>
            <a:gdLst/>
            <a:ahLst/>
            <a:cxnLst/>
            <a:rect l="l" t="t" r="r" b="b"/>
            <a:pathLst>
              <a:path w="325055" h="325055">
                <a:moveTo>
                  <a:pt x="0" y="0"/>
                </a:moveTo>
                <a:moveTo>
                  <a:pt x="0" y="0"/>
                </a:moveTo>
                <a:lnTo>
                  <a:pt x="0" y="325055"/>
                </a:lnTo>
                <a:lnTo>
                  <a:pt x="325055" y="325055"/>
                </a:lnTo>
                <a:close/>
              </a:path>
            </a:pathLst>
          </a:custGeom>
          <a:solidFill>
            <a:srgbClr val="E1E1E1">
              <a:alpha val="20000"/>
            </a:srgbClr>
          </a:solidFill>
        </p:spPr>
      </p:sp>
      <p:sp>
        <p:nvSpPr>
          <p:cNvPr id="12" name="Text 9"/>
          <p:cNvSpPr/>
          <p:nvPr/>
        </p:nvSpPr>
        <p:spPr>
          <a:xfrm>
            <a:off x="834307" y="1323749"/>
            <a:ext cx="2845133" cy="573106"/>
          </a:xfrm>
          <a:prstGeom prst="rect">
            <a:avLst/>
          </a:prstGeom>
          <a:noFill/>
        </p:spPr>
        <p:txBody>
          <a:bodyPr wrap="square" lIns="95250" tIns="95250" rIns="95250" bIns="95250" rtlCol="0" anchor="ctr"/>
          <a:lstStyle/>
          <a:p>
            <a:pPr marL="0" indent="0">
              <a:lnSpc>
                <a:spcPct val="100000"/>
              </a:lnSpc>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个人信息管理</a:t>
            </a:r>
            <a:endParaRPr lang="en-US" sz="1440" dirty="0"/>
          </a:p>
        </p:txBody>
      </p:sp>
      <p:sp>
        <p:nvSpPr>
          <p:cNvPr id="13" name="Text 10"/>
          <p:cNvSpPr/>
          <p:nvPr/>
        </p:nvSpPr>
        <p:spPr>
          <a:xfrm>
            <a:off x="3586576" y="1099566"/>
            <a:ext cx="4333133" cy="914400"/>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个人中心作为用户操作的核心区域，提供了全面的个人信息管理功能，包括资料更新、密码修改等，确保用户信息的安全与时效性。</a:t>
            </a:r>
            <a:endParaRPr lang="en-US" sz="1440" dirty="0"/>
          </a:p>
        </p:txBody>
      </p:sp>
      <p:sp>
        <p:nvSpPr>
          <p:cNvPr id="14" name="Text 11"/>
          <p:cNvSpPr/>
          <p:nvPr/>
        </p:nvSpPr>
        <p:spPr>
          <a:xfrm>
            <a:off x="834307" y="2409000"/>
            <a:ext cx="2531059" cy="593182"/>
          </a:xfrm>
          <a:prstGeom prst="rect">
            <a:avLst/>
          </a:prstGeom>
          <a:noFill/>
        </p:spPr>
        <p:txBody>
          <a:bodyPr wrap="square" lIns="95250" tIns="95250" rIns="95250" bIns="95250" rtlCol="0" anchor="ctr"/>
          <a:lstStyle/>
          <a:p>
            <a:pPr marL="0" indent="0">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账户安全与隐私保护</a:t>
            </a:r>
            <a:endParaRPr lang="en-US" sz="1440" dirty="0"/>
          </a:p>
        </p:txBody>
      </p:sp>
      <p:sp>
        <p:nvSpPr>
          <p:cNvPr id="15" name="Text 12"/>
          <p:cNvSpPr/>
          <p:nvPr/>
        </p:nvSpPr>
        <p:spPr>
          <a:xfrm>
            <a:off x="3586576" y="2248391"/>
            <a:ext cx="4333133" cy="914400"/>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通过个人中心，用户可以查看和管理自己的操作记录，进行权限设置，有效保障账户安全和个人隐私不受侵犯。</a:t>
            </a:r>
            <a:endParaRPr lang="en-US" sz="1440" dirty="0"/>
          </a:p>
        </p:txBody>
      </p:sp>
      <p:sp>
        <p:nvSpPr>
          <p:cNvPr id="16" name="Text 13"/>
          <p:cNvSpPr/>
          <p:nvPr/>
        </p:nvSpPr>
        <p:spPr>
          <a:xfrm>
            <a:off x="834307" y="3434022"/>
            <a:ext cx="2530145" cy="573106"/>
          </a:xfrm>
          <a:prstGeom prst="rect">
            <a:avLst/>
          </a:prstGeom>
          <a:noFill/>
        </p:spPr>
        <p:txBody>
          <a:bodyPr wrap="square" lIns="95250" tIns="95250" rIns="95250" bIns="95250" rtlCol="0" anchor="ctr"/>
          <a:lstStyle/>
          <a:p>
            <a:pPr marL="0" indent="0">
              <a:lnSpc>
                <a:spcPct val="100000"/>
              </a:lnSpc>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管理员对用户信息的全面控制</a:t>
            </a:r>
            <a:endParaRPr lang="en-US" sz="1440" dirty="0"/>
          </a:p>
        </p:txBody>
      </p:sp>
      <p:sp>
        <p:nvSpPr>
          <p:cNvPr id="17" name="Text 14"/>
          <p:cNvSpPr/>
          <p:nvPr/>
        </p:nvSpPr>
        <p:spPr>
          <a:xfrm>
            <a:off x="3586576" y="3263375"/>
            <a:ext cx="4333133" cy="914400"/>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用户管理功能赋予管理员强大的控制权，使其能够通过系统控制中心高效地查看、编辑或删除用户信息，实现对用户数据的集中管理。</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风控专员模块功能</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598021cef9ac8801347a19d03ebc5975aa117.jpg?authorization=c2ltcGxlLWp3dCBhaz1zcGFya2Rlc2s4MDAwMDAwMDAwMDE7ZXhwPTMzMTkyODQzNTk7YWxnbz1obWFjLXNoYTI1NjtzaWc9alF2dTdFeWpteDBUV1dpTjJINEhOOXUxTTZKRTNZNW9hUWlQaytBY2tCWT0=&amp;x_location=7YfmxI7B7uKO7jlRxIftd60wePD="/>
          <p:cNvPicPr>
            <a:picLocks noChangeAspect="1"/>
          </p:cNvPicPr>
          <p:nvPr/>
        </p:nvPicPr>
        <p:blipFill>
          <a:blip r:embed="rId3"/>
          <a:srcRect/>
          <a:stretch>
            <a:fillRect/>
          </a:stretch>
        </p:blipFill>
        <p:spPr>
          <a:xfrm>
            <a:off x="505361" y="2646298"/>
            <a:ext cx="2516140" cy="1415329"/>
          </a:xfrm>
          <a:prstGeom prst="rect">
            <a:avLst/>
          </a:prstGeom>
        </p:spPr>
      </p:pic>
      <p:sp>
        <p:nvSpPr>
          <p:cNvPr id="7" name="Text 3"/>
          <p:cNvSpPr/>
          <p:nvPr/>
        </p:nvSpPr>
        <p:spPr>
          <a:xfrm>
            <a:off x="455940"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客户贷款申请处理</a:t>
            </a:r>
            <a:endParaRPr lang="en-US" sz="1440" dirty="0"/>
          </a:p>
        </p:txBody>
      </p:sp>
      <p:sp>
        <p:nvSpPr>
          <p:cNvPr id="8" name="Text 4"/>
          <p:cNvSpPr/>
          <p:nvPr/>
        </p:nvSpPr>
        <p:spPr>
          <a:xfrm>
            <a:off x="3247889"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通过深入分析客户的信用历史和财务状况，风控专员模块帮助专员评估潜在的信贷风险，为决策提供科学依据。</a:t>
            </a:r>
            <a:endParaRPr lang="en-US" sz="1440" dirty="0"/>
          </a:p>
        </p:txBody>
      </p:sp>
      <p:pic>
        <p:nvPicPr>
          <p:cNvPr id="9" name="Image 2" descr="https://sgw-dx.xf-yun.com/api/v1/sparkdesk/_1742484363131512e8df56f2d4fc6b908c8bf33e6431c.jpg?authorization=c2ltcGxlLWp3dCBhaz1zcGFya2Rlc2s4MDAwMDAwMDAwMDE7ZXhwPTMzMTkyODQzNjM7YWxnbz1obWFjLXNoYTI1NjtzaWc9TDhoRy8rdTJVTDVHSVppRGVmeWhVcUZLajU5N2VUSGUxMHNQL2tza21maz0=&amp;x_location=7YfmxI7B7uKO7jlRxIftd60wePD="/>
          <p:cNvPicPr>
            <a:picLocks noChangeAspect="1"/>
          </p:cNvPicPr>
          <p:nvPr/>
        </p:nvPicPr>
        <p:blipFill>
          <a:blip r:embed="rId4"/>
          <a:srcRect l="154" r="154"/>
          <a:stretch>
            <a:fillRect/>
          </a:stretch>
        </p:blipFill>
        <p:spPr>
          <a:xfrm>
            <a:off x="3297311" y="2646298"/>
            <a:ext cx="2516140" cy="1415329"/>
          </a:xfrm>
          <a:prstGeom prst="rect">
            <a:avLst/>
          </a:prstGeom>
        </p:spPr>
      </p:pic>
      <p:sp>
        <p:nvSpPr>
          <p:cNvPr id="10" name="Text 5"/>
          <p:cNvSpPr/>
          <p:nvPr/>
        </p:nvSpPr>
        <p:spPr>
          <a:xfrm>
            <a:off x="3247889"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客户信用风险分析</a:t>
            </a:r>
            <a:endParaRPr lang="en-US" sz="1440" dirty="0"/>
          </a:p>
        </p:txBody>
      </p:sp>
      <p:sp>
        <p:nvSpPr>
          <p:cNvPr id="11" name="Text 6"/>
          <p:cNvSpPr/>
          <p:nvPr/>
        </p:nvSpPr>
        <p:spPr>
          <a:xfrm>
            <a:off x="6031158" y="1290078"/>
            <a:ext cx="2656902"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该模块支持强大的数据查询、分析和管理功能，使风控专员能够轻松获取关键信息，进行数据分析，有效管理信贷风险。</a:t>
            </a:r>
            <a:endParaRPr lang="en-US" sz="1440" dirty="0"/>
          </a:p>
        </p:txBody>
      </p:sp>
      <p:pic>
        <p:nvPicPr>
          <p:cNvPr id="12" name="Image 3" descr="https://sgw-dx.xf-yun.com/api/v1/sparkdesk/_1742484366364cbe2287cbd4540e199ee4b2fb8dce0a1.jpg?authorization=c2ltcGxlLWp3dCBhaz1zcGFya2Rlc2s4MDAwMDAwMDAwMDE7ZXhwPTMzMTkyODQzNjY7YWxnbz1obWFjLXNoYTI1NjtzaWc9Y0FGRE5wTXIrQ244cU84Vm5IUjBUQk4vYWQyeVVXSEx5MUdFeEV3V0NqTT0=&amp;x_location=7YfmxI7B7uKO7jlRxIftd60wePD="/>
          <p:cNvPicPr>
            <a:picLocks noChangeAspect="1"/>
          </p:cNvPicPr>
          <p:nvPr/>
        </p:nvPicPr>
        <p:blipFill>
          <a:blip r:embed="rId5"/>
          <a:srcRect l="154" r="154"/>
          <a:stretch>
            <a:fillRect/>
          </a:stretch>
        </p:blipFill>
        <p:spPr>
          <a:xfrm>
            <a:off x="6101539" y="2646298"/>
            <a:ext cx="2516140" cy="1415329"/>
          </a:xfrm>
          <a:prstGeom prst="rect">
            <a:avLst/>
          </a:prstGeom>
        </p:spPr>
      </p:pic>
      <p:sp>
        <p:nvSpPr>
          <p:cNvPr id="13" name="Text 7"/>
          <p:cNvSpPr/>
          <p:nvPr/>
        </p:nvSpPr>
        <p:spPr>
          <a:xfrm>
            <a:off x="6031158" y="826507"/>
            <a:ext cx="2656902"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数据查询、分析和管理</a:t>
            </a:r>
            <a:endParaRPr lang="en-US" sz="1440" dirty="0"/>
          </a:p>
        </p:txBody>
      </p:sp>
      <p:sp>
        <p:nvSpPr>
          <p:cNvPr id="14" name="Text 8"/>
          <p:cNvSpPr/>
          <p:nvPr/>
        </p:nvSpPr>
        <p:spPr>
          <a:xfrm>
            <a:off x="455940"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风控专员模块提供查看和处理客户贷款申请的功能，使专员能够高效地审查每一笔贷款请求，确保贷款流程的顺畅与合规。</a:t>
            </a:r>
            <a:endParaRPr lang="en-US" sz="14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84651" y="2343508"/>
            <a:ext cx="1477931" cy="1658064"/>
          </a:xfrm>
          <a:prstGeom prst="rect">
            <a:avLst/>
          </a:prstGeom>
          <a:noFill/>
        </p:spPr>
        <p:txBody>
          <a:bodyPr wrap="square" lIns="95250" tIns="95250" rIns="95250" bIns="95250" rtlCol="0" anchor="t"/>
          <a:lstStyle/>
          <a:p>
            <a:pPr marL="0" indent="0" algn="ctr">
              <a:lnSpc>
                <a:spcPct val="113000"/>
              </a:lnSpc>
              <a:spcBef>
                <a:spcPts val="375"/>
              </a:spcBef>
              <a:buNone/>
            </a:pPr>
            <a:r>
              <a:rPr lang="en-US" sz="7490" b="1" dirty="0">
                <a:solidFill>
                  <a:srgbClr val="FFFFFF">
                    <a:alpha val="20000"/>
                  </a:srgbClr>
                </a:solidFill>
                <a:latin typeface="Arial" panose="020B0604020202020204" pitchFamily="34" charset="0"/>
                <a:ea typeface="Arial" panose="020B0604020202020204" pitchFamily="34" charset="-122"/>
                <a:cs typeface="Arial" panose="020B0604020202020204" pitchFamily="34" charset="-120"/>
              </a:rPr>
              <a:t>04</a:t>
            </a:r>
            <a:endParaRPr lang="en-US" sz="1440" dirty="0"/>
          </a:p>
        </p:txBody>
      </p:sp>
      <p:sp>
        <p:nvSpPr>
          <p:cNvPr id="3" name="Text 1"/>
          <p:cNvSpPr/>
          <p:nvPr/>
        </p:nvSpPr>
        <p:spPr>
          <a:xfrm>
            <a:off x="702783" y="1782625"/>
            <a:ext cx="5622316" cy="841248"/>
          </a:xfrm>
          <a:prstGeom prst="rect">
            <a:avLst/>
          </a:prstGeom>
          <a:noFill/>
        </p:spPr>
        <p:txBody>
          <a:bodyPr wrap="square" lIns="95250" tIns="95250" rIns="95250" bIns="95250" rtlCol="0" anchor="t"/>
          <a:lstStyle/>
          <a:p>
            <a:pPr marL="0" indent="0">
              <a:lnSpc>
                <a:spcPct val="113000"/>
              </a:lnSpc>
              <a:spcBef>
                <a:spcPts val="375"/>
              </a:spcBef>
              <a:buNone/>
            </a:pPr>
            <a:r>
              <a:rPr lang="en-US" sz="3455" b="1" dirty="0">
                <a:solidFill>
                  <a:srgbClr val="F4BC42"/>
                </a:solidFill>
                <a:latin typeface="微软雅黑" panose="020B0503020204020204" pitchFamily="34" charset="-122"/>
                <a:ea typeface="微软雅黑" panose="020B0503020204020204" pitchFamily="34" charset="-122"/>
                <a:cs typeface="微软雅黑" panose="020B0503020204020204" pitchFamily="34" charset="-120"/>
              </a:rPr>
              <a:t>系统设计与实现</a:t>
            </a:r>
            <a:endParaRPr lang="en-US" sz="1440" dirty="0"/>
          </a:p>
        </p:txBody>
      </p:sp>
      <p:sp>
        <p:nvSpPr>
          <p:cNvPr id="4" name="Shape 2"/>
          <p:cNvSpPr/>
          <p:nvPr/>
        </p:nvSpPr>
        <p:spPr>
          <a:xfrm>
            <a:off x="731979" y="2660031"/>
            <a:ext cx="4952103" cy="0"/>
          </a:xfrm>
          <a:custGeom>
            <a:avLst/>
            <a:gdLst/>
            <a:ahLst/>
            <a:cxnLst/>
            <a:rect l="l" t="t" r="r" b="b"/>
            <a:pathLst>
              <a:path w="4952103">
                <a:moveTo>
                  <a:pt x="0" y="0"/>
                </a:moveTo>
                <a:moveTo>
                  <a:pt x="0" y="0"/>
                </a:moveTo>
                <a:lnTo>
                  <a:pt x="4952103" y="0"/>
                </a:lnTo>
              </a:path>
            </a:pathLst>
          </a:custGeom>
          <a:noFill/>
          <a:ln w="66675">
            <a:solidFill>
              <a:srgbClr val="4B81CC"/>
            </a:solidFill>
            <a:prstDash val="solid"/>
            <a:headEnd type="none"/>
            <a:tailEnd type="none"/>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Arial" panose="020B0604020202020204" pitchFamily="34" charset="0"/>
                <a:ea typeface="Arial" panose="020B0604020202020204" pitchFamily="34" charset="-122"/>
                <a:cs typeface="Arial" panose="020B0604020202020204" pitchFamily="34" charset="-120"/>
              </a:rPr>
              <a:t>B/S</a:t>
            </a: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架构优势</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6077025c3ba0c0a6f44d39e96feadb7638c71.jpg?authorization=c2ltcGxlLWp3dCBhaz1zcGFya2Rlc2s4MDAwMDAwMDAwMDE7ZXhwPTMzMTkyODQzNjA7YWxnbz1obWFjLXNoYTI1NjtzaWc9S2FLdlpUOEY1aUlTV2xqRWRndTAyTE5qTHVJaWhSNTNrVDlwMW5IRTFhZz0=&amp;x_location=7YfmxI7B7uKO7jlRxIftd60wePD="/>
          <p:cNvPicPr>
            <a:picLocks noChangeAspect="1"/>
          </p:cNvPicPr>
          <p:nvPr/>
        </p:nvPicPr>
        <p:blipFill>
          <a:blip r:embed="rId3"/>
          <a:stretch>
            <a:fillRect/>
          </a:stretch>
        </p:blipFill>
        <p:spPr>
          <a:xfrm>
            <a:off x="888372" y="1088132"/>
            <a:ext cx="2283193" cy="1282693"/>
          </a:xfrm>
          <a:prstGeom prst="rect">
            <a:avLst/>
          </a:prstGeom>
        </p:spPr>
      </p:pic>
      <p:sp>
        <p:nvSpPr>
          <p:cNvPr id="7" name="Text 3"/>
          <p:cNvSpPr/>
          <p:nvPr/>
        </p:nvSpPr>
        <p:spPr>
          <a:xfrm>
            <a:off x="786384" y="2446016"/>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无需安装额外软件</a:t>
            </a:r>
            <a:endParaRPr lang="en-US" sz="1440" dirty="0"/>
          </a:p>
        </p:txBody>
      </p:sp>
      <p:sp>
        <p:nvSpPr>
          <p:cNvPr id="8" name="Text 4"/>
          <p:cNvSpPr/>
          <p:nvPr/>
        </p:nvSpPr>
        <p:spPr>
          <a:xfrm>
            <a:off x="822960" y="2773736"/>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B/S架构允许用户通过浏览器直接访问服务器上的应用程序，省去了在本地设备上安装软件的繁琐步骤，极大地简化了用户的使用过程。</a:t>
            </a:r>
            <a:endParaRPr lang="en-US" sz="1440" dirty="0"/>
          </a:p>
        </p:txBody>
      </p:sp>
      <p:pic>
        <p:nvPicPr>
          <p:cNvPr id="9" name="Image 2" descr="https://sgw-dx.xf-yun.com/api/v1/sparkdesk/_1742484363968a88564a873ed4a54a15c5aa13800077d.jpg?authorization=c2ltcGxlLWp3dCBhaz1zcGFya2Rlc2s4MDAwMDAwMDAwMDE7ZXhwPTMzMTkyODQzNjM7YWxnbz1obWFjLXNoYTI1NjtzaWc9OEZEcUpWRTRaSzNWWlpaeERXVmFRa1ZlM3FUeFlJWkQxMjFzR1VibVFjVT0=&amp;x_location=7YfmxI7B7uKO7jlRxIftd60wePD="/>
          <p:cNvPicPr>
            <a:picLocks noChangeAspect="1"/>
          </p:cNvPicPr>
          <p:nvPr/>
        </p:nvPicPr>
        <p:blipFill>
          <a:blip r:embed="rId4"/>
          <a:stretch>
            <a:fillRect/>
          </a:stretch>
        </p:blipFill>
        <p:spPr>
          <a:xfrm>
            <a:off x="3466980" y="1088132"/>
            <a:ext cx="2283193" cy="1282693"/>
          </a:xfrm>
          <a:prstGeom prst="rect">
            <a:avLst/>
          </a:prstGeom>
        </p:spPr>
      </p:pic>
      <p:sp>
        <p:nvSpPr>
          <p:cNvPr id="10" name="Text 5"/>
          <p:cNvSpPr/>
          <p:nvPr/>
        </p:nvSpPr>
        <p:spPr>
          <a:xfrm>
            <a:off x="3328416" y="2446016"/>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便于维护和升级</a:t>
            </a:r>
            <a:endParaRPr lang="en-US" sz="1440" dirty="0"/>
          </a:p>
        </p:txBody>
      </p:sp>
      <p:sp>
        <p:nvSpPr>
          <p:cNvPr id="11" name="Text 6"/>
          <p:cNvSpPr/>
          <p:nvPr/>
        </p:nvSpPr>
        <p:spPr>
          <a:xfrm>
            <a:off x="3401568" y="2773736"/>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在B/S架构中，所有的应用程序都部署在服务器端，这意味着系统更新和维护工作主要集中在服务器上进行，从而降低了维护成本并提高了升级效率。</a:t>
            </a:r>
            <a:endParaRPr lang="en-US" sz="1440" dirty="0"/>
          </a:p>
        </p:txBody>
      </p:sp>
      <p:pic>
        <p:nvPicPr>
          <p:cNvPr id="12" name="Image 3" descr="https://sgw-dx.xf-yun.com/api/v1/sparkdesk/_174248436715699c9acfbfd61430191a7ca545e30d6a0.jpg?authorization=c2ltcGxlLWp3dCBhaz1zcGFya2Rlc2s4MDAwMDAwMDAwMDE7ZXhwPTMzMTkyODQzNjc7YWxnbz1obWFjLXNoYTI1NjtzaWc9a0o2VG1rS1RaZmhQL2pUVzVFRmd4R0xYVzZsRGxwQXBqdHZmQTBrZ3BzRT0=&amp;x_location=7YfmxI7B7uKO7jlRxIftd60wePD="/>
          <p:cNvPicPr>
            <a:picLocks noChangeAspect="1"/>
          </p:cNvPicPr>
          <p:nvPr/>
        </p:nvPicPr>
        <p:blipFill>
          <a:blip r:embed="rId5"/>
          <a:stretch>
            <a:fillRect/>
          </a:stretch>
        </p:blipFill>
        <p:spPr>
          <a:xfrm>
            <a:off x="6009012" y="1088132"/>
            <a:ext cx="2283193" cy="1282693"/>
          </a:xfrm>
          <a:prstGeom prst="rect">
            <a:avLst/>
          </a:prstGeom>
        </p:spPr>
      </p:pic>
      <p:sp>
        <p:nvSpPr>
          <p:cNvPr id="13" name="Text 7"/>
          <p:cNvSpPr/>
          <p:nvPr/>
        </p:nvSpPr>
        <p:spPr>
          <a:xfrm>
            <a:off x="5870448" y="2447488"/>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跨平台兼容性强</a:t>
            </a:r>
            <a:endParaRPr lang="en-US" sz="1440" dirty="0"/>
          </a:p>
        </p:txBody>
      </p:sp>
      <p:sp>
        <p:nvSpPr>
          <p:cNvPr id="14" name="Text 8"/>
          <p:cNvSpPr/>
          <p:nvPr/>
        </p:nvSpPr>
        <p:spPr>
          <a:xfrm>
            <a:off x="5943600" y="2775208"/>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由于B/S架构基于Web技术，因此它具有良好的跨平台特性，无论用户使用何种操作系统或设备，只要能上网就能访问服务，保证了广泛的应用范围。</a:t>
            </a:r>
            <a:endParaRPr lang="en-US" sz="14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数据库与数据存储</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81332ad67d3a6f89e40829b428606a23d88bc.jpg?authorization=c2ltcGxlLWp3dCBhaz1zcGFya2Rlc2s4MDAwMDAwMDAwMDE7ZXhwPTMzMTkyODQzODE7YWxnbz1obWFjLXNoYTI1NjtzaWc9aVRibDRReDQ4NER1UFJuZ09uWUQ3MUg0OS8rUzNTNUlxRGtpOSt6Ump2WT0=&amp;x_location=7YfmxI7B7uKO7jlRxIftd60wePD="/>
          <p:cNvPicPr>
            <a:picLocks noChangeAspect="1"/>
          </p:cNvPicPr>
          <p:nvPr/>
        </p:nvPicPr>
        <p:blipFill>
          <a:blip r:embed="rId3"/>
          <a:srcRect/>
          <a:stretch>
            <a:fillRect/>
          </a:stretch>
        </p:blipFill>
        <p:spPr>
          <a:xfrm>
            <a:off x="505361" y="2646298"/>
            <a:ext cx="2516140" cy="1415329"/>
          </a:xfrm>
          <a:prstGeom prst="rect">
            <a:avLst/>
          </a:prstGeom>
        </p:spPr>
      </p:pic>
      <p:sp>
        <p:nvSpPr>
          <p:cNvPr id="7" name="Text 3"/>
          <p:cNvSpPr/>
          <p:nvPr/>
        </p:nvSpPr>
        <p:spPr>
          <a:xfrm>
            <a:off x="455940"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MySQL数据库应用</a:t>
            </a:r>
            <a:endParaRPr lang="en-US" sz="1440" dirty="0"/>
          </a:p>
        </p:txBody>
      </p:sp>
      <p:sp>
        <p:nvSpPr>
          <p:cNvPr id="8" name="Text 4"/>
          <p:cNvSpPr/>
          <p:nvPr/>
        </p:nvSpPr>
        <p:spPr>
          <a:xfrm>
            <a:off x="3247889"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数据清洗是数据分析前的必要步骤，它通过识别并修正数据中的错误和不一致性，保证了数据质量，为后续的数据分析和决策提供了可靠的基础。</a:t>
            </a:r>
            <a:endParaRPr lang="en-US" sz="1440" dirty="0"/>
          </a:p>
        </p:txBody>
      </p:sp>
      <p:pic>
        <p:nvPicPr>
          <p:cNvPr id="9" name="Image 2" descr="https://sgw-dx.xf-yun.com/api/v1/sparkdesk/_1742484384545be6e1818a42d488b8b5dbbc43493a025.jpg?authorization=c2ltcGxlLWp3dCBhaz1zcGFya2Rlc2s4MDAwMDAwMDAwMDE7ZXhwPTMzMTkyODQzODQ7YWxnbz1obWFjLXNoYTI1NjtzaWc9bmFDOEU0OWVIOUtkU2RXZXBsNzhodkJnNG53MVRTQW1ZWmVuL05STmsybz0=&amp;x_location=7YfmxI7B7uKO7jlRxIftd60wePD="/>
          <p:cNvPicPr>
            <a:picLocks noChangeAspect="1"/>
          </p:cNvPicPr>
          <p:nvPr/>
        </p:nvPicPr>
        <p:blipFill>
          <a:blip r:embed="rId4"/>
          <a:srcRect l="154" r="154"/>
          <a:stretch>
            <a:fillRect/>
          </a:stretch>
        </p:blipFill>
        <p:spPr>
          <a:xfrm>
            <a:off x="3297311" y="2646298"/>
            <a:ext cx="2516140" cy="1415329"/>
          </a:xfrm>
          <a:prstGeom prst="rect">
            <a:avLst/>
          </a:prstGeom>
        </p:spPr>
      </p:pic>
      <p:sp>
        <p:nvSpPr>
          <p:cNvPr id="10" name="Text 5"/>
          <p:cNvSpPr/>
          <p:nvPr/>
        </p:nvSpPr>
        <p:spPr>
          <a:xfrm>
            <a:off x="3247889"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数据清洗的重要性</a:t>
            </a:r>
            <a:endParaRPr lang="en-US" sz="1440" dirty="0"/>
          </a:p>
        </p:txBody>
      </p:sp>
      <p:sp>
        <p:nvSpPr>
          <p:cNvPr id="11" name="Text 6"/>
          <p:cNvSpPr/>
          <p:nvPr/>
        </p:nvSpPr>
        <p:spPr>
          <a:xfrm>
            <a:off x="6031158" y="1290078"/>
            <a:ext cx="2656902"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Hadoop作为一个分布式计算框架，通过其分布式存储和并行计算能力，有效地处理和分析海量数据，广泛应用于大数据领域，提升了数据处理的效率和可靠性。</a:t>
            </a:r>
            <a:endParaRPr lang="en-US" sz="1440" dirty="0"/>
          </a:p>
        </p:txBody>
      </p:sp>
      <p:pic>
        <p:nvPicPr>
          <p:cNvPr id="12" name="Image 3" descr="https://sgw-dx.xf-yun.com/api/v1/sparkdesk/_1742484387634f36fa27d77b84ddeb4e6035b17f16832.jpg?authorization=c2ltcGxlLWp3dCBhaz1zcGFya2Rlc2s4MDAwMDAwMDAwMDE7ZXhwPTMzMTkyODQzODc7YWxnbz1obWFjLXNoYTI1NjtzaWc9YkFPVWo0bkVHRjdkSE5OUWdNVnNxN1M5MGxaM1c2d0tmNUV0dU5tWUpsST0=&amp;x_location=7YfmxI7B7uKO7jlRxIftd60wePD="/>
          <p:cNvPicPr>
            <a:picLocks noChangeAspect="1"/>
          </p:cNvPicPr>
          <p:nvPr/>
        </p:nvPicPr>
        <p:blipFill>
          <a:blip r:embed="rId5"/>
          <a:srcRect l="154" r="154"/>
          <a:stretch>
            <a:fillRect/>
          </a:stretch>
        </p:blipFill>
        <p:spPr>
          <a:xfrm>
            <a:off x="6101539" y="2646298"/>
            <a:ext cx="2516140" cy="1415329"/>
          </a:xfrm>
          <a:prstGeom prst="rect">
            <a:avLst/>
          </a:prstGeom>
        </p:spPr>
      </p:pic>
      <p:sp>
        <p:nvSpPr>
          <p:cNvPr id="13" name="Text 7"/>
          <p:cNvSpPr/>
          <p:nvPr/>
        </p:nvSpPr>
        <p:spPr>
          <a:xfrm>
            <a:off x="6031158" y="826507"/>
            <a:ext cx="2656902"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Hadoop在大数据处理中的应用</a:t>
            </a:r>
            <a:endParaRPr lang="en-US" sz="1440" dirty="0"/>
          </a:p>
        </p:txBody>
      </p:sp>
      <p:sp>
        <p:nvSpPr>
          <p:cNvPr id="14" name="Text 8"/>
          <p:cNvSpPr/>
          <p:nvPr/>
        </p:nvSpPr>
        <p:spPr>
          <a:xfrm>
            <a:off x="455940"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MySQL作为开源关系型数据库管理系统，在数据存储和管理方面发挥着核心作用，通过其高效的数据处理能力，确保了系统数据的稳定和安全。</a:t>
            </a:r>
            <a:endParaRPr lang="en-US" sz="14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84651" y="2343508"/>
            <a:ext cx="1477931" cy="1658064"/>
          </a:xfrm>
          <a:prstGeom prst="rect">
            <a:avLst/>
          </a:prstGeom>
          <a:noFill/>
        </p:spPr>
        <p:txBody>
          <a:bodyPr wrap="square" lIns="95250" tIns="95250" rIns="95250" bIns="95250" rtlCol="0" anchor="t"/>
          <a:lstStyle/>
          <a:p>
            <a:pPr marL="0" indent="0" algn="ctr">
              <a:lnSpc>
                <a:spcPct val="113000"/>
              </a:lnSpc>
              <a:spcBef>
                <a:spcPts val="375"/>
              </a:spcBef>
              <a:buNone/>
            </a:pPr>
            <a:r>
              <a:rPr lang="en-US" sz="7490" b="1" dirty="0">
                <a:solidFill>
                  <a:srgbClr val="FFFFFF">
                    <a:alpha val="20000"/>
                  </a:srgbClr>
                </a:solidFill>
                <a:latin typeface="Arial" panose="020B0604020202020204" pitchFamily="34" charset="0"/>
                <a:ea typeface="Arial" panose="020B0604020202020204" pitchFamily="34" charset="-122"/>
                <a:cs typeface="Arial" panose="020B0604020202020204" pitchFamily="34" charset="-120"/>
              </a:rPr>
              <a:t>05</a:t>
            </a:r>
            <a:endParaRPr lang="en-US" sz="1440" dirty="0"/>
          </a:p>
        </p:txBody>
      </p:sp>
      <p:sp>
        <p:nvSpPr>
          <p:cNvPr id="3" name="Text 1"/>
          <p:cNvSpPr/>
          <p:nvPr/>
        </p:nvSpPr>
        <p:spPr>
          <a:xfrm>
            <a:off x="702783" y="1782625"/>
            <a:ext cx="5622316" cy="841248"/>
          </a:xfrm>
          <a:prstGeom prst="rect">
            <a:avLst/>
          </a:prstGeom>
          <a:noFill/>
        </p:spPr>
        <p:txBody>
          <a:bodyPr wrap="square" lIns="95250" tIns="95250" rIns="95250" bIns="95250" rtlCol="0" anchor="t"/>
          <a:lstStyle/>
          <a:p>
            <a:pPr marL="0" indent="0">
              <a:lnSpc>
                <a:spcPct val="113000"/>
              </a:lnSpc>
              <a:spcBef>
                <a:spcPts val="375"/>
              </a:spcBef>
              <a:buNone/>
            </a:pPr>
            <a:r>
              <a:rPr lang="en-US" sz="3455" b="1" dirty="0">
                <a:solidFill>
                  <a:srgbClr val="F4BC42"/>
                </a:solidFill>
                <a:latin typeface="微软雅黑" panose="020B0503020204020204" pitchFamily="34" charset="-122"/>
                <a:ea typeface="微软雅黑" panose="020B0503020204020204" pitchFamily="34" charset="-122"/>
                <a:cs typeface="微软雅黑" panose="020B0503020204020204" pitchFamily="34" charset="-120"/>
              </a:rPr>
              <a:t>系统测试与验证</a:t>
            </a:r>
            <a:endParaRPr lang="en-US" sz="1440" dirty="0"/>
          </a:p>
        </p:txBody>
      </p:sp>
      <p:sp>
        <p:nvSpPr>
          <p:cNvPr id="4" name="Shape 2"/>
          <p:cNvSpPr/>
          <p:nvPr/>
        </p:nvSpPr>
        <p:spPr>
          <a:xfrm>
            <a:off x="731979" y="2660031"/>
            <a:ext cx="4952103" cy="0"/>
          </a:xfrm>
          <a:custGeom>
            <a:avLst/>
            <a:gdLst/>
            <a:ahLst/>
            <a:cxnLst/>
            <a:rect l="l" t="t" r="r" b="b"/>
            <a:pathLst>
              <a:path w="4952103">
                <a:moveTo>
                  <a:pt x="0" y="0"/>
                </a:moveTo>
                <a:moveTo>
                  <a:pt x="0" y="0"/>
                </a:moveTo>
                <a:lnTo>
                  <a:pt x="4952103" y="0"/>
                </a:lnTo>
              </a:path>
            </a:pathLst>
          </a:custGeom>
          <a:noFill/>
          <a:ln w="66675">
            <a:solidFill>
              <a:srgbClr val="4B81CC"/>
            </a:solidFill>
            <a:prstDash val="solid"/>
            <a:headEnd type="none"/>
            <a:tailEnd type="none"/>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黑盒白盒测试方法</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sp>
        <p:nvSpPr>
          <p:cNvPr id="6" name="Shape 3"/>
          <p:cNvSpPr/>
          <p:nvPr/>
        </p:nvSpPr>
        <p:spPr>
          <a:xfrm>
            <a:off x="4125591" y="1645920"/>
            <a:ext cx="174439" cy="0"/>
          </a:xfrm>
          <a:custGeom>
            <a:avLst/>
            <a:gdLst/>
            <a:ahLst/>
            <a:cxnLst/>
            <a:rect l="l" t="t" r="r" b="b"/>
            <a:pathLst>
              <a:path w="174439">
                <a:moveTo>
                  <a:pt x="174439" y="0"/>
                </a:moveTo>
                <a:moveTo>
                  <a:pt x="174439" y="0"/>
                </a:moveTo>
                <a:lnTo>
                  <a:pt x="0" y="0"/>
                </a:lnTo>
              </a:path>
            </a:pathLst>
          </a:custGeom>
          <a:noFill/>
          <a:ln w="19050">
            <a:solidFill>
              <a:srgbClr val="1C62C0"/>
            </a:solidFill>
            <a:prstDash val="solid"/>
            <a:headEnd type="none"/>
            <a:tailEnd type="arrow"/>
          </a:ln>
        </p:spPr>
      </p:sp>
      <p:sp>
        <p:nvSpPr>
          <p:cNvPr id="7" name="Shape 4"/>
          <p:cNvSpPr/>
          <p:nvPr/>
        </p:nvSpPr>
        <p:spPr>
          <a:xfrm>
            <a:off x="5024592" y="2752344"/>
            <a:ext cx="177670" cy="0"/>
          </a:xfrm>
          <a:custGeom>
            <a:avLst/>
            <a:gdLst/>
            <a:ahLst/>
            <a:cxnLst/>
            <a:rect l="l" t="t" r="r" b="b"/>
            <a:pathLst>
              <a:path w="177670">
                <a:moveTo>
                  <a:pt x="0" y="0"/>
                </a:moveTo>
                <a:moveTo>
                  <a:pt x="0" y="0"/>
                </a:moveTo>
                <a:lnTo>
                  <a:pt x="177670" y="0"/>
                </a:lnTo>
              </a:path>
            </a:pathLst>
          </a:custGeom>
          <a:noFill/>
          <a:ln w="19050">
            <a:solidFill>
              <a:srgbClr val="1C62C0"/>
            </a:solidFill>
            <a:prstDash val="solid"/>
            <a:headEnd type="none"/>
            <a:tailEnd type="arrow"/>
          </a:ln>
        </p:spPr>
      </p:sp>
      <p:sp>
        <p:nvSpPr>
          <p:cNvPr id="8" name="Shape 5"/>
          <p:cNvSpPr/>
          <p:nvPr/>
        </p:nvSpPr>
        <p:spPr>
          <a:xfrm>
            <a:off x="4118004" y="3799332"/>
            <a:ext cx="175088" cy="0"/>
          </a:xfrm>
          <a:custGeom>
            <a:avLst/>
            <a:gdLst/>
            <a:ahLst/>
            <a:cxnLst/>
            <a:rect l="l" t="t" r="r" b="b"/>
            <a:pathLst>
              <a:path w="175088">
                <a:moveTo>
                  <a:pt x="175088" y="0"/>
                </a:moveTo>
                <a:moveTo>
                  <a:pt x="175088" y="0"/>
                </a:moveTo>
                <a:lnTo>
                  <a:pt x="0" y="0"/>
                </a:lnTo>
              </a:path>
            </a:pathLst>
          </a:custGeom>
          <a:noFill/>
          <a:ln w="19050">
            <a:solidFill>
              <a:srgbClr val="1C62C0"/>
            </a:solidFill>
            <a:prstDash val="solid"/>
            <a:headEnd type="none"/>
            <a:tailEnd type="arrow"/>
          </a:ln>
        </p:spPr>
      </p:sp>
      <p:sp>
        <p:nvSpPr>
          <p:cNvPr id="9" name="Text 6"/>
          <p:cNvSpPr/>
          <p:nvPr/>
        </p:nvSpPr>
        <p:spPr>
          <a:xfrm>
            <a:off x="4287407" y="1280160"/>
            <a:ext cx="745435" cy="704088"/>
          </a:xfrm>
          <a:prstGeom prst="rect">
            <a:avLst/>
          </a:prstGeom>
          <a:noFill/>
        </p:spPr>
        <p:txBody>
          <a:bodyPr wrap="square" lIns="95250" tIns="95250" rIns="95250" bIns="95250" rtlCol="0" anchor="t"/>
          <a:lstStyle/>
          <a:p>
            <a:pPr marL="0" indent="0" algn="ctr">
              <a:lnSpc>
                <a:spcPct val="113000"/>
              </a:lnSpc>
              <a:spcBef>
                <a:spcPts val="375"/>
              </a:spcBef>
              <a:buNone/>
            </a:pPr>
            <a:r>
              <a:rPr lang="en-US" sz="2735"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0" name="Text 7"/>
          <p:cNvSpPr/>
          <p:nvPr/>
        </p:nvSpPr>
        <p:spPr>
          <a:xfrm>
            <a:off x="4287407" y="3429000"/>
            <a:ext cx="745435" cy="676656"/>
          </a:xfrm>
          <a:prstGeom prst="rect">
            <a:avLst/>
          </a:prstGeom>
          <a:noFill/>
        </p:spPr>
        <p:txBody>
          <a:bodyPr wrap="square" lIns="95250" tIns="95250" rIns="95250" bIns="95250" rtlCol="0" anchor="t"/>
          <a:lstStyle/>
          <a:p>
            <a:pPr marL="0" indent="0" algn="ctr">
              <a:lnSpc>
                <a:spcPct val="113000"/>
              </a:lnSpc>
              <a:spcBef>
                <a:spcPts val="375"/>
              </a:spcBef>
              <a:buNone/>
            </a:pPr>
            <a:r>
              <a:rPr lang="en-US" sz="259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1" name="Text 8"/>
          <p:cNvSpPr/>
          <p:nvPr/>
        </p:nvSpPr>
        <p:spPr>
          <a:xfrm>
            <a:off x="4278263" y="2423160"/>
            <a:ext cx="745435" cy="676656"/>
          </a:xfrm>
          <a:prstGeom prst="rect">
            <a:avLst/>
          </a:prstGeom>
          <a:noFill/>
        </p:spPr>
        <p:txBody>
          <a:bodyPr wrap="square" lIns="95250" tIns="95250" rIns="95250" bIns="95250" rtlCol="0" anchor="t"/>
          <a:lstStyle/>
          <a:p>
            <a:pPr marL="0" indent="0" algn="ctr">
              <a:lnSpc>
                <a:spcPct val="113000"/>
              </a:lnSpc>
              <a:spcBef>
                <a:spcPts val="375"/>
              </a:spcBef>
              <a:buNone/>
            </a:pPr>
            <a:r>
              <a:rPr lang="en-US" sz="259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2" name="Text 9"/>
          <p:cNvSpPr/>
          <p:nvPr/>
        </p:nvSpPr>
        <p:spPr>
          <a:xfrm>
            <a:off x="890230" y="1280160"/>
            <a:ext cx="3108960" cy="402336"/>
          </a:xfrm>
          <a:prstGeom prst="rect">
            <a:avLst/>
          </a:prstGeom>
          <a:noFill/>
        </p:spPr>
        <p:txBody>
          <a:bodyPr wrap="square" lIns="95250" tIns="95250" rIns="95250" bIns="95250" rtlCol="0" anchor="t"/>
          <a:lstStyle/>
          <a:p>
            <a:pPr marL="0" indent="0" algn="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黑盒测试的定义与目的</a:t>
            </a:r>
            <a:endParaRPr lang="en-US" sz="1440" dirty="0"/>
          </a:p>
        </p:txBody>
      </p:sp>
      <p:sp>
        <p:nvSpPr>
          <p:cNvPr id="13" name="Text 10"/>
          <p:cNvSpPr/>
          <p:nvPr/>
        </p:nvSpPr>
        <p:spPr>
          <a:xfrm>
            <a:off x="890230" y="1639519"/>
            <a:ext cx="3108960" cy="1024128"/>
          </a:xfrm>
          <a:prstGeom prst="rect">
            <a:avLst/>
          </a:prstGeom>
          <a:noFill/>
        </p:spPr>
        <p:txBody>
          <a:bodyPr wrap="square" lIns="95250" tIns="95250" rIns="95250" bIns="95250" rtlCol="0" anchor="t"/>
          <a:lstStyle/>
          <a:p>
            <a:pPr marL="0" indent="0" algn="r">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黑盒测试专注于软件的外部功能，通过模拟用户操作来验证输入和输出是否符合预期，确保软件的功能表现满足需求规格。</a:t>
            </a:r>
            <a:endParaRPr lang="en-US" sz="1440" dirty="0"/>
          </a:p>
        </p:txBody>
      </p:sp>
      <p:sp>
        <p:nvSpPr>
          <p:cNvPr id="14" name="Text 11"/>
          <p:cNvSpPr/>
          <p:nvPr/>
        </p:nvSpPr>
        <p:spPr>
          <a:xfrm>
            <a:off x="5235854" y="2039112"/>
            <a:ext cx="3108960" cy="402336"/>
          </a:xfrm>
          <a:prstGeom prst="rect">
            <a:avLst/>
          </a:prstGeom>
          <a:noFill/>
        </p:spPr>
        <p:txBody>
          <a:bodyPr wrap="square" lIns="95250" tIns="95250" rIns="95250" bIns="95250" rtlCol="0" anchor="t"/>
          <a:lstStyle/>
          <a:p>
            <a:pPr marL="0" indent="0">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白盒测试的核心关注点</a:t>
            </a:r>
            <a:endParaRPr lang="en-US" sz="1440" dirty="0"/>
          </a:p>
        </p:txBody>
      </p:sp>
      <p:sp>
        <p:nvSpPr>
          <p:cNvPr id="15" name="Text 12"/>
          <p:cNvSpPr/>
          <p:nvPr/>
        </p:nvSpPr>
        <p:spPr>
          <a:xfrm>
            <a:off x="5236250" y="2441448"/>
            <a:ext cx="3108960" cy="1024128"/>
          </a:xfrm>
          <a:prstGeom prst="rect">
            <a:avLst/>
          </a:prstGeom>
          <a:noFill/>
        </p:spPr>
        <p:txBody>
          <a:bodyPr wrap="square" lIns="95250" tIns="95250" rIns="95250" bIns="95250" rtlCol="0" anchor="t"/>
          <a:lstStyle/>
          <a:p>
            <a:pPr marL="0" indent="0">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白盒测试深入软件内部，检查代码的逻辑结构和执行路径，旨在发现潜在的代码缺陷和性能瓶颈，保证程序的内部运作正确无误。</a:t>
            </a:r>
            <a:endParaRPr lang="en-US" sz="1440" dirty="0"/>
          </a:p>
        </p:txBody>
      </p:sp>
      <p:sp>
        <p:nvSpPr>
          <p:cNvPr id="16" name="Text 13"/>
          <p:cNvSpPr/>
          <p:nvPr/>
        </p:nvSpPr>
        <p:spPr>
          <a:xfrm>
            <a:off x="890230" y="2761488"/>
            <a:ext cx="3108960" cy="402336"/>
          </a:xfrm>
          <a:prstGeom prst="rect">
            <a:avLst/>
          </a:prstGeom>
          <a:noFill/>
        </p:spPr>
        <p:txBody>
          <a:bodyPr wrap="square" lIns="95250" tIns="95250" rIns="95250" bIns="95250" rtlCol="0" anchor="t"/>
          <a:lstStyle/>
          <a:p>
            <a:pPr marL="0" indent="0" algn="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黑盒与白盒测试的区别</a:t>
            </a:r>
            <a:endParaRPr lang="en-US" sz="1440" dirty="0"/>
          </a:p>
        </p:txBody>
      </p:sp>
      <p:sp>
        <p:nvSpPr>
          <p:cNvPr id="17" name="Text 14"/>
          <p:cNvSpPr/>
          <p:nvPr/>
        </p:nvSpPr>
        <p:spPr>
          <a:xfrm>
            <a:off x="890230" y="3163824"/>
            <a:ext cx="3108960" cy="1060704"/>
          </a:xfrm>
          <a:prstGeom prst="rect">
            <a:avLst/>
          </a:prstGeom>
          <a:noFill/>
        </p:spPr>
        <p:txBody>
          <a:bodyPr wrap="square" lIns="95250" tIns="95250" rIns="95250" bIns="95250" rtlCol="0" anchor="t"/>
          <a:lstStyle/>
          <a:p>
            <a:pPr marL="0" indent="0" algn="r">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黑盒测试主要关注软件的外部功能，不需要了解内部代码结构；而白盒测试则深入软件内部，需要了解代码逻辑，两者在测试方法和关注点上存在显著差异。</a:t>
            </a:r>
            <a:endParaRPr lang="en-US" sz="1440" dirty="0"/>
          </a:p>
        </p:txBody>
      </p:sp>
      <p:pic>
        <p:nvPicPr>
          <p:cNvPr id="18" name="Image 1" descr="preencoded.png"/>
          <p:cNvPicPr>
            <a:picLocks noChangeAspect="1"/>
          </p:cNvPicPr>
          <p:nvPr/>
        </p:nvPicPr>
        <p:blipFill>
          <a:blip r:embed="rId3"/>
          <a:stretch>
            <a:fillRect/>
          </a:stretch>
        </p:blipFill>
        <p:spPr>
          <a:xfrm>
            <a:off x="4205111" y="1182319"/>
            <a:ext cx="914400" cy="914400"/>
          </a:xfrm>
          <a:prstGeom prst="rect">
            <a:avLst/>
          </a:prstGeom>
        </p:spPr>
      </p:pic>
      <p:pic>
        <p:nvPicPr>
          <p:cNvPr id="19" name="Image 2" descr="preencoded.png"/>
          <p:cNvPicPr>
            <a:picLocks noChangeAspect="1"/>
          </p:cNvPicPr>
          <p:nvPr/>
        </p:nvPicPr>
        <p:blipFill>
          <a:blip r:embed="rId3"/>
          <a:stretch>
            <a:fillRect/>
          </a:stretch>
        </p:blipFill>
        <p:spPr>
          <a:xfrm>
            <a:off x="4205111" y="2304288"/>
            <a:ext cx="914400" cy="914400"/>
          </a:xfrm>
          <a:prstGeom prst="rect">
            <a:avLst/>
          </a:prstGeom>
        </p:spPr>
      </p:pic>
      <p:pic>
        <p:nvPicPr>
          <p:cNvPr id="20" name="Image 3" descr="preencoded.png"/>
          <p:cNvPicPr>
            <a:picLocks noChangeAspect="1"/>
          </p:cNvPicPr>
          <p:nvPr/>
        </p:nvPicPr>
        <p:blipFill>
          <a:blip r:embed="rId3"/>
          <a:stretch>
            <a:fillRect/>
          </a:stretch>
        </p:blipFill>
        <p:spPr>
          <a:xfrm>
            <a:off x="4205111" y="3310128"/>
            <a:ext cx="914400" cy="914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压力性能测试结果</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689270683d53f50914eb1a05f604ee74893b1.jpg?authorization=c2ltcGxlLWp3dCBhaz1zcGFya2Rlc2s4MDAwMDAwMDAwMDE7ZXhwPTMzMTkyODQzNjg7YWxnbz1obWFjLXNoYTI1NjtzaWc9TG1kT3lVZHQrb0VoQWxLcUlLOWFnZFY4STFBV0ZEQjZNSjZRT2xPTHROYz0=&amp;x_location=7YfmxI7B7uKO7jlRxIftd60wePD="/>
          <p:cNvPicPr>
            <a:picLocks noChangeAspect="1"/>
          </p:cNvPicPr>
          <p:nvPr/>
        </p:nvPicPr>
        <p:blipFill>
          <a:blip r:embed="rId3"/>
          <a:srcRect/>
          <a:stretch>
            <a:fillRect/>
          </a:stretch>
        </p:blipFill>
        <p:spPr>
          <a:xfrm>
            <a:off x="505361" y="2646298"/>
            <a:ext cx="2516140" cy="1415329"/>
          </a:xfrm>
          <a:prstGeom prst="rect">
            <a:avLst/>
          </a:prstGeom>
        </p:spPr>
      </p:pic>
      <p:sp>
        <p:nvSpPr>
          <p:cNvPr id="7" name="Text 3"/>
          <p:cNvSpPr/>
          <p:nvPr/>
        </p:nvSpPr>
        <p:spPr>
          <a:xfrm>
            <a:off x="455940"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测试环境搭建</a:t>
            </a:r>
            <a:endParaRPr lang="en-US" sz="1440" dirty="0"/>
          </a:p>
        </p:txBody>
      </p:sp>
      <p:sp>
        <p:nvSpPr>
          <p:cNvPr id="8" name="Text 4"/>
          <p:cNvSpPr/>
          <p:nvPr/>
        </p:nvSpPr>
        <p:spPr>
          <a:xfrm>
            <a:off x="3247889"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负载测试是通过模拟多用户同时访问系统或应用，来评估其性能表现的一种方法。在这个阶段，我们会逐步增加系统的负载，直至达到预定的最大值，以观察系统在不同压力下的表现。</a:t>
            </a:r>
            <a:endParaRPr lang="en-US" sz="1440" dirty="0"/>
          </a:p>
        </p:txBody>
      </p:sp>
      <p:pic>
        <p:nvPicPr>
          <p:cNvPr id="9" name="Image 2" descr="https://sgw-dx.xf-yun.com/api/v1/sparkdesk/_17424843722350537f2f84ab640e5af08ea0ab7f7e44f.jpg?authorization=c2ltcGxlLWp3dCBhaz1zcGFya2Rlc2s4MDAwMDAwMDAwMDE7ZXhwPTMzMTkyODQzNzI7YWxnbz1obWFjLXNoYTI1NjtzaWc9NFRMUFN5K3lUbHhQL1M2akZIQVdzUGtycUZJZC9vMGZSWFhRRUpKVEFwYz0=&amp;x_location=7YfmxI7B7uKO7jlRxIftd60wePD="/>
          <p:cNvPicPr>
            <a:picLocks noChangeAspect="1"/>
          </p:cNvPicPr>
          <p:nvPr/>
        </p:nvPicPr>
        <p:blipFill>
          <a:blip r:embed="rId4"/>
          <a:srcRect l="154" r="154"/>
          <a:stretch>
            <a:fillRect/>
          </a:stretch>
        </p:blipFill>
        <p:spPr>
          <a:xfrm>
            <a:off x="3297311" y="2646298"/>
            <a:ext cx="2516140" cy="1415329"/>
          </a:xfrm>
          <a:prstGeom prst="rect">
            <a:avLst/>
          </a:prstGeom>
        </p:spPr>
      </p:pic>
      <p:sp>
        <p:nvSpPr>
          <p:cNvPr id="10" name="Text 5"/>
          <p:cNvSpPr/>
          <p:nvPr/>
        </p:nvSpPr>
        <p:spPr>
          <a:xfrm>
            <a:off x="3247889"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负载测试执行</a:t>
            </a:r>
            <a:endParaRPr lang="en-US" sz="1440" dirty="0"/>
          </a:p>
        </p:txBody>
      </p:sp>
      <p:sp>
        <p:nvSpPr>
          <p:cNvPr id="11" name="Text 6"/>
          <p:cNvSpPr/>
          <p:nvPr/>
        </p:nvSpPr>
        <p:spPr>
          <a:xfrm>
            <a:off x="6031158" y="1290078"/>
            <a:ext cx="2656902"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完成负载测试后，接下来就是对收集到的数据进行分析。通过对比预期目标和实际结果，我们可以识别出系统的性能瓶颈，并提出相应的优化措施，以提高系统的稳定性和响应速度。</a:t>
            </a:r>
            <a:endParaRPr lang="en-US" sz="1440" dirty="0"/>
          </a:p>
        </p:txBody>
      </p:sp>
      <p:pic>
        <p:nvPicPr>
          <p:cNvPr id="12" name="Image 3" descr="https://sgw-dx.xf-yun.com/api/v1/sparkdesk/_17424843754558c5221a0d36544968c2ff0445244e2aa.jpg?authorization=c2ltcGxlLWp3dCBhaz1zcGFya2Rlc2s4MDAwMDAwMDAwMDE7ZXhwPTMzMTkyODQzNzU7YWxnbz1obWFjLXNoYTI1NjtzaWc9UDR0SHlJUDY3Wkc4c0JMRjhsWmlOVkFic2xpbmVia1E4ekZDbFBHOFRFOD0=&amp;x_location=7YfmxI7B7uKO7jlRxIftd60wePD="/>
          <p:cNvPicPr>
            <a:picLocks noChangeAspect="1"/>
          </p:cNvPicPr>
          <p:nvPr/>
        </p:nvPicPr>
        <p:blipFill>
          <a:blip r:embed="rId5"/>
          <a:srcRect l="154" r="154"/>
          <a:stretch>
            <a:fillRect/>
          </a:stretch>
        </p:blipFill>
        <p:spPr>
          <a:xfrm>
            <a:off x="6101539" y="2646298"/>
            <a:ext cx="2516140" cy="1415329"/>
          </a:xfrm>
          <a:prstGeom prst="rect">
            <a:avLst/>
          </a:prstGeom>
        </p:spPr>
      </p:pic>
      <p:sp>
        <p:nvSpPr>
          <p:cNvPr id="13" name="Text 7"/>
          <p:cNvSpPr/>
          <p:nvPr/>
        </p:nvSpPr>
        <p:spPr>
          <a:xfrm>
            <a:off x="6031158" y="826507"/>
            <a:ext cx="2656902"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结果分析与优化</a:t>
            </a:r>
            <a:endParaRPr lang="en-US" sz="1440" dirty="0"/>
          </a:p>
        </p:txBody>
      </p:sp>
      <p:sp>
        <p:nvSpPr>
          <p:cNvPr id="14" name="Text 8"/>
          <p:cNvSpPr/>
          <p:nvPr/>
        </p:nvSpPr>
        <p:spPr>
          <a:xfrm>
            <a:off x="455940"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在进行压力性能测试之前，首要任务是构建一个符合实际应用场景的测试环境。这包括选择合适的硬件配置、软件平台以及网络环境，确保测试结果的准确性和可靠性。</a:t>
            </a:r>
            <a:endParaRPr lang="en-US" sz="14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84651" y="2343508"/>
            <a:ext cx="1477931" cy="1658064"/>
          </a:xfrm>
          <a:prstGeom prst="rect">
            <a:avLst/>
          </a:prstGeom>
          <a:noFill/>
        </p:spPr>
        <p:txBody>
          <a:bodyPr wrap="square" lIns="95250" tIns="95250" rIns="95250" bIns="95250" rtlCol="0" anchor="t"/>
          <a:lstStyle/>
          <a:p>
            <a:pPr marL="0" indent="0" algn="ctr">
              <a:lnSpc>
                <a:spcPct val="113000"/>
              </a:lnSpc>
              <a:spcBef>
                <a:spcPts val="375"/>
              </a:spcBef>
              <a:buNone/>
            </a:pPr>
            <a:r>
              <a:rPr lang="en-US" sz="7490" b="1" dirty="0">
                <a:solidFill>
                  <a:srgbClr val="FFFFFF">
                    <a:alpha val="20000"/>
                  </a:srgbClr>
                </a:solidFill>
                <a:latin typeface="Arial" panose="020B0604020202020204" pitchFamily="34" charset="0"/>
                <a:ea typeface="Arial" panose="020B0604020202020204" pitchFamily="34" charset="-122"/>
                <a:cs typeface="Arial" panose="020B0604020202020204" pitchFamily="34" charset="-120"/>
              </a:rPr>
              <a:t>06</a:t>
            </a:r>
            <a:endParaRPr lang="en-US" sz="1440" dirty="0"/>
          </a:p>
        </p:txBody>
      </p:sp>
      <p:sp>
        <p:nvSpPr>
          <p:cNvPr id="3" name="Text 1"/>
          <p:cNvSpPr/>
          <p:nvPr/>
        </p:nvSpPr>
        <p:spPr>
          <a:xfrm>
            <a:off x="702783" y="1782625"/>
            <a:ext cx="5622316" cy="841248"/>
          </a:xfrm>
          <a:prstGeom prst="rect">
            <a:avLst/>
          </a:prstGeom>
          <a:noFill/>
        </p:spPr>
        <p:txBody>
          <a:bodyPr wrap="square" lIns="95250" tIns="95250" rIns="95250" bIns="95250" rtlCol="0" anchor="t"/>
          <a:lstStyle/>
          <a:p>
            <a:pPr marL="0" indent="0">
              <a:lnSpc>
                <a:spcPct val="113000"/>
              </a:lnSpc>
              <a:spcBef>
                <a:spcPts val="375"/>
              </a:spcBef>
              <a:buNone/>
            </a:pPr>
            <a:r>
              <a:rPr lang="en-US" sz="3455" b="1" dirty="0">
                <a:solidFill>
                  <a:srgbClr val="F4BC42"/>
                </a:solidFill>
                <a:latin typeface="微软雅黑" panose="020B0503020204020204" pitchFamily="34" charset="-122"/>
                <a:ea typeface="微软雅黑" panose="020B0503020204020204" pitchFamily="34" charset="-122"/>
                <a:cs typeface="微软雅黑" panose="020B0503020204020204" pitchFamily="34" charset="-120"/>
              </a:rPr>
              <a:t>研究挑战与成果</a:t>
            </a:r>
            <a:endParaRPr lang="en-US" sz="1440" dirty="0"/>
          </a:p>
        </p:txBody>
      </p:sp>
      <p:sp>
        <p:nvSpPr>
          <p:cNvPr id="4" name="Shape 2"/>
          <p:cNvSpPr/>
          <p:nvPr/>
        </p:nvSpPr>
        <p:spPr>
          <a:xfrm>
            <a:off x="731979" y="2660031"/>
            <a:ext cx="4952103" cy="0"/>
          </a:xfrm>
          <a:custGeom>
            <a:avLst/>
            <a:gdLst/>
            <a:ahLst/>
            <a:cxnLst/>
            <a:rect l="l" t="t" r="r" b="b"/>
            <a:pathLst>
              <a:path w="4952103">
                <a:moveTo>
                  <a:pt x="0" y="0"/>
                </a:moveTo>
                <a:moveTo>
                  <a:pt x="0" y="0"/>
                </a:moveTo>
                <a:lnTo>
                  <a:pt x="4952103" y="0"/>
                </a:lnTo>
              </a:path>
            </a:pathLst>
          </a:custGeom>
          <a:noFill/>
          <a:ln w="66675">
            <a:solidFill>
              <a:srgbClr val="4B81CC"/>
            </a:solidFill>
            <a:prstDash val="solid"/>
            <a:headEnd type="none"/>
            <a:tailEnd type="none"/>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数据收集与模型构建</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78667086c2659165740519baf501cf073c489.jpg?authorization=c2ltcGxlLWp3dCBhaz1zcGFya2Rlc2s4MDAwMDAwMDAwMDE7ZXhwPTMzMTkyODQzNzg7YWxnbz1obWFjLXNoYTI1NjtzaWc9Mk1GV1ZSZGU4WE9pdjJ0Z2N0bjM0dW92NnVsRG0rZStUdVdCMjg4RVY3ND0=&amp;x_location=7YfmxI7B7uKO7jlRxIftd60wePD="/>
          <p:cNvPicPr>
            <a:picLocks noChangeAspect="1"/>
          </p:cNvPicPr>
          <p:nvPr/>
        </p:nvPicPr>
        <p:blipFill>
          <a:blip r:embed="rId3"/>
          <a:srcRect/>
          <a:stretch>
            <a:fillRect/>
          </a:stretch>
        </p:blipFill>
        <p:spPr>
          <a:xfrm>
            <a:off x="505361" y="2646298"/>
            <a:ext cx="2516140" cy="1415329"/>
          </a:xfrm>
          <a:prstGeom prst="rect">
            <a:avLst/>
          </a:prstGeom>
        </p:spPr>
      </p:pic>
      <p:sp>
        <p:nvSpPr>
          <p:cNvPr id="7" name="Text 3"/>
          <p:cNvSpPr/>
          <p:nvPr/>
        </p:nvSpPr>
        <p:spPr>
          <a:xfrm>
            <a:off x="455940"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数据收集的挑战</a:t>
            </a:r>
            <a:endParaRPr lang="en-US" sz="1440" dirty="0"/>
          </a:p>
        </p:txBody>
      </p:sp>
      <p:sp>
        <p:nvSpPr>
          <p:cNvPr id="8" name="Text 4"/>
          <p:cNvSpPr/>
          <p:nvPr/>
        </p:nvSpPr>
        <p:spPr>
          <a:xfrm>
            <a:off x="3247889"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模型构建的复杂性也是项目实施过程中遇到的主要挑战之一。为了解决这一问题，研究者需要具备坚实的理论基础和持续的实践探索精神。</a:t>
            </a:r>
            <a:endParaRPr lang="en-US" sz="1440" dirty="0"/>
          </a:p>
        </p:txBody>
      </p:sp>
      <p:pic>
        <p:nvPicPr>
          <p:cNvPr id="9" name="Image 2" descr="https://sgw-dx.xf-yun.com/api/v1/sparkdesk/_1742484381818a84c284e21f94494a1f9b3195e5ac3a8.jpg?authorization=c2ltcGxlLWp3dCBhaz1zcGFya2Rlc2s4MDAwMDAwMDAwMDE7ZXhwPTMzMTkyODQzODE7YWxnbz1obWFjLXNoYTI1NjtzaWc9ZGFDallDV3B4SUJTZGVTdkhITmt1Rzlzc1pGaUpLN0VlcXVKSTVzbmtJUT0=&amp;x_location=7YfmxI7B7uKO7jlRxIftd60wePD="/>
          <p:cNvPicPr>
            <a:picLocks noChangeAspect="1"/>
          </p:cNvPicPr>
          <p:nvPr/>
        </p:nvPicPr>
        <p:blipFill>
          <a:blip r:embed="rId4"/>
          <a:srcRect l="154" r="154"/>
          <a:stretch>
            <a:fillRect/>
          </a:stretch>
        </p:blipFill>
        <p:spPr>
          <a:xfrm>
            <a:off x="3297311" y="2646298"/>
            <a:ext cx="2516140" cy="1415329"/>
          </a:xfrm>
          <a:prstGeom prst="rect">
            <a:avLst/>
          </a:prstGeom>
        </p:spPr>
      </p:pic>
      <p:sp>
        <p:nvSpPr>
          <p:cNvPr id="10" name="Text 5"/>
          <p:cNvSpPr/>
          <p:nvPr/>
        </p:nvSpPr>
        <p:spPr>
          <a:xfrm>
            <a:off x="3247889"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模型构建的复杂性</a:t>
            </a:r>
            <a:endParaRPr lang="en-US" sz="1440" dirty="0"/>
          </a:p>
        </p:txBody>
      </p:sp>
      <p:sp>
        <p:nvSpPr>
          <p:cNvPr id="11" name="Text 6"/>
          <p:cNvSpPr/>
          <p:nvPr/>
        </p:nvSpPr>
        <p:spPr>
          <a:xfrm>
            <a:off x="6031158" y="1290078"/>
            <a:ext cx="2656902"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本次毕业设计论文的成功实现表明，科学研究不仅需要坚实的理论基础，还需要持续的实践和探索精神。这是科学研究的核心价值所在。</a:t>
            </a:r>
            <a:endParaRPr lang="en-US" sz="1440" dirty="0"/>
          </a:p>
        </p:txBody>
      </p:sp>
      <p:pic>
        <p:nvPicPr>
          <p:cNvPr id="12" name="Image 3" descr="https://sgw-dx.xf-yun.com/api/v1/sparkdesk/_17424843850553995dd9a63464e73a26c2cd038dad9ae.jpg?authorization=c2ltcGxlLWp3dCBhaz1zcGFya2Rlc2s4MDAwMDAwMDAwMDE7ZXhwPTMzMTkyODQzODU7YWxnbz1obWFjLXNoYTI1NjtzaWc9UnBJaU5QdHRadll5YzNxN3JWT3k4MWtVSFM2a3dOdG5EN2hWYVROa3crOD0=&amp;x_location=7YfmxI7B7uKO7jlRxIftd60wePD="/>
          <p:cNvPicPr>
            <a:picLocks noChangeAspect="1"/>
          </p:cNvPicPr>
          <p:nvPr/>
        </p:nvPicPr>
        <p:blipFill>
          <a:blip r:embed="rId5"/>
          <a:srcRect l="154" r="154"/>
          <a:stretch>
            <a:fillRect/>
          </a:stretch>
        </p:blipFill>
        <p:spPr>
          <a:xfrm>
            <a:off x="6101539" y="2646298"/>
            <a:ext cx="2516140" cy="1415329"/>
          </a:xfrm>
          <a:prstGeom prst="rect">
            <a:avLst/>
          </a:prstGeom>
        </p:spPr>
      </p:pic>
      <p:sp>
        <p:nvSpPr>
          <p:cNvPr id="13" name="Text 7"/>
          <p:cNvSpPr/>
          <p:nvPr/>
        </p:nvSpPr>
        <p:spPr>
          <a:xfrm>
            <a:off x="6031158" y="826507"/>
            <a:ext cx="2656902"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科学研究的精神</a:t>
            </a:r>
            <a:endParaRPr lang="en-US" sz="1440" dirty="0"/>
          </a:p>
        </p:txBody>
      </p:sp>
      <p:sp>
        <p:nvSpPr>
          <p:cNvPr id="14" name="Text 8"/>
          <p:cNvSpPr/>
          <p:nvPr/>
        </p:nvSpPr>
        <p:spPr>
          <a:xfrm>
            <a:off x="455940"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在本次毕业设计论文中，数据收集的难度是项目实施过程中遇到的主要挑战之一。为了克服这些困难，研究者通过不断的实验和调整，最终成功实现了预期的研究目标。</a:t>
            </a:r>
            <a:endParaRPr lang="en-US" sz="14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理论实践结合意义</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79419c491af7a817e4f70a514e5ee958c0a02.jpg?authorization=c2ltcGxlLWp3dCBhaz1zcGFya2Rlc2s4MDAwMDAwMDAwMDE7ZXhwPTMzMTkyODQzNzk7YWxnbz1obWFjLXNoYTI1NjtzaWc9MGEwcHBsZ3FNR0RqVkluQkpOekdMNjJ1SHpFSEs0UFk5dDJudUdDb0hnVT0=&amp;x_location=7YfmxI7B7uKO7jlRxIftd60wePD="/>
          <p:cNvPicPr>
            <a:picLocks noChangeAspect="1"/>
          </p:cNvPicPr>
          <p:nvPr/>
        </p:nvPicPr>
        <p:blipFill>
          <a:blip r:embed="rId3"/>
          <a:stretch>
            <a:fillRect/>
          </a:stretch>
        </p:blipFill>
        <p:spPr>
          <a:xfrm>
            <a:off x="888372" y="1088132"/>
            <a:ext cx="2283193" cy="1282693"/>
          </a:xfrm>
          <a:prstGeom prst="rect">
            <a:avLst/>
          </a:prstGeom>
        </p:spPr>
      </p:pic>
      <p:sp>
        <p:nvSpPr>
          <p:cNvPr id="7" name="Text 3"/>
          <p:cNvSpPr/>
          <p:nvPr/>
        </p:nvSpPr>
        <p:spPr>
          <a:xfrm>
            <a:off x="786384" y="2446016"/>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深化理论知识理解</a:t>
            </a:r>
            <a:endParaRPr lang="en-US" sz="1440" dirty="0"/>
          </a:p>
        </p:txBody>
      </p:sp>
      <p:sp>
        <p:nvSpPr>
          <p:cNvPr id="8" name="Text 4"/>
          <p:cNvSpPr/>
          <p:nvPr/>
        </p:nvSpPr>
        <p:spPr>
          <a:xfrm>
            <a:off x="822960" y="2773736"/>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通过将理论应用于实际问题解决，不仅能够验证理论的正确性，还能在应用过程中发现理论的不足之处，从而加深对理论知识的理解。</a:t>
            </a:r>
            <a:endParaRPr lang="en-US" sz="1440" dirty="0"/>
          </a:p>
        </p:txBody>
      </p:sp>
      <p:pic>
        <p:nvPicPr>
          <p:cNvPr id="9" name="Image 2" descr="https://sgw-dx.xf-yun.com/api/v1/sparkdesk/_174248438269572495cd0002c4a098252986c4c3aacf1.jpg?authorization=c2ltcGxlLWp3dCBhaz1zcGFya2Rlc2s4MDAwMDAwMDAwMDE7ZXhwPTMzMTkyODQzODI7YWxnbz1obWFjLXNoYTI1NjtzaWc9c1l5TFdvR0RxTWRhMTgrQmUxVi96MHhib0xRVVlXbHdmdU9DbHFEaG5Ybz0=&amp;x_location=7YfmxI7B7uKO7jlRxIftd60wePD="/>
          <p:cNvPicPr>
            <a:picLocks noChangeAspect="1"/>
          </p:cNvPicPr>
          <p:nvPr/>
        </p:nvPicPr>
        <p:blipFill>
          <a:blip r:embed="rId4"/>
          <a:stretch>
            <a:fillRect/>
          </a:stretch>
        </p:blipFill>
        <p:spPr>
          <a:xfrm>
            <a:off x="3466980" y="1088132"/>
            <a:ext cx="2283193" cy="1282693"/>
          </a:xfrm>
          <a:prstGeom prst="rect">
            <a:avLst/>
          </a:prstGeom>
        </p:spPr>
      </p:pic>
      <p:sp>
        <p:nvSpPr>
          <p:cNvPr id="10" name="Text 5"/>
          <p:cNvSpPr/>
          <p:nvPr/>
        </p:nvSpPr>
        <p:spPr>
          <a:xfrm>
            <a:off x="3328416" y="2446016"/>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积累实践经验</a:t>
            </a:r>
            <a:endParaRPr lang="en-US" sz="1440" dirty="0"/>
          </a:p>
        </p:txBody>
      </p:sp>
      <p:sp>
        <p:nvSpPr>
          <p:cNvPr id="11" name="Text 6"/>
          <p:cNvSpPr/>
          <p:nvPr/>
        </p:nvSpPr>
        <p:spPr>
          <a:xfrm>
            <a:off x="3401568" y="2773736"/>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实践是检验真理的唯一标准。在实际操作中，面对各种预料之外的挑战和困难，通过不断尝试和调整，积累了宝贵的实践经验。</a:t>
            </a:r>
            <a:endParaRPr lang="en-US" sz="1440" dirty="0"/>
          </a:p>
        </p:txBody>
      </p:sp>
      <p:pic>
        <p:nvPicPr>
          <p:cNvPr id="12" name="Image 3" descr="https://sgw-dx.xf-yun.com/api/v1/sparkdesk/_174248438567422f76e0bd54b4632a7245c162e303dcd.jpg?authorization=c2ltcGxlLWp3dCBhaz1zcGFya2Rlc2s4MDAwMDAwMDAwMDE7ZXhwPTMzMTkyODQzODU7YWxnbz1obWFjLXNoYTI1NjtzaWc9RE82SUpKTk9IanVGcEZMWHVxU1dQL1dnWFBwdFpKVkowbm95QU45UzNGND0=&amp;x_location=7YfmxI7B7uKO7jlRxIftd60wePD="/>
          <p:cNvPicPr>
            <a:picLocks noChangeAspect="1"/>
          </p:cNvPicPr>
          <p:nvPr/>
        </p:nvPicPr>
        <p:blipFill>
          <a:blip r:embed="rId5"/>
          <a:stretch>
            <a:fillRect/>
          </a:stretch>
        </p:blipFill>
        <p:spPr>
          <a:xfrm>
            <a:off x="6009012" y="1088132"/>
            <a:ext cx="2283193" cy="1282693"/>
          </a:xfrm>
          <a:prstGeom prst="rect">
            <a:avLst/>
          </a:prstGeom>
        </p:spPr>
      </p:pic>
      <p:sp>
        <p:nvSpPr>
          <p:cNvPr id="13" name="Text 7"/>
          <p:cNvSpPr/>
          <p:nvPr/>
        </p:nvSpPr>
        <p:spPr>
          <a:xfrm>
            <a:off x="5870448" y="2447488"/>
            <a:ext cx="2487168"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提升解决问题能力</a:t>
            </a:r>
            <a:endParaRPr lang="en-US" sz="1440" dirty="0"/>
          </a:p>
        </p:txBody>
      </p:sp>
      <p:sp>
        <p:nvSpPr>
          <p:cNvPr id="14" name="Text 8"/>
          <p:cNvSpPr/>
          <p:nvPr/>
        </p:nvSpPr>
        <p:spPr>
          <a:xfrm>
            <a:off x="5943600" y="2775208"/>
            <a:ext cx="2414016"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理论与实践的结合，使得个人在面对复杂问题时，能够运用所学知识进行分析和解决，有效提升了解决实际问题的能力。</a:t>
            </a:r>
            <a:endParaRPr lang="en-US" sz="14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84651" y="2343508"/>
            <a:ext cx="1477931" cy="1658064"/>
          </a:xfrm>
          <a:prstGeom prst="rect">
            <a:avLst/>
          </a:prstGeom>
          <a:noFill/>
        </p:spPr>
        <p:txBody>
          <a:bodyPr wrap="square" lIns="95250" tIns="95250" rIns="95250" bIns="95250" rtlCol="0" anchor="t"/>
          <a:lstStyle/>
          <a:p>
            <a:pPr marL="0" indent="0" algn="ctr">
              <a:lnSpc>
                <a:spcPct val="113000"/>
              </a:lnSpc>
              <a:spcBef>
                <a:spcPts val="375"/>
              </a:spcBef>
              <a:buNone/>
            </a:pPr>
            <a:r>
              <a:rPr lang="en-US" sz="7490" b="1" dirty="0">
                <a:solidFill>
                  <a:srgbClr val="FFFFFF">
                    <a:alpha val="20000"/>
                  </a:srgbClr>
                </a:solidFill>
                <a:latin typeface="Arial" panose="020B0604020202020204" pitchFamily="34" charset="0"/>
                <a:ea typeface="Arial" panose="020B0604020202020204" pitchFamily="34" charset="-122"/>
                <a:cs typeface="Arial" panose="020B0604020202020204" pitchFamily="34" charset="-120"/>
              </a:rPr>
              <a:t>07</a:t>
            </a:r>
            <a:endParaRPr lang="en-US" sz="1440" dirty="0"/>
          </a:p>
        </p:txBody>
      </p:sp>
      <p:sp>
        <p:nvSpPr>
          <p:cNvPr id="3" name="Text 1"/>
          <p:cNvSpPr/>
          <p:nvPr/>
        </p:nvSpPr>
        <p:spPr>
          <a:xfrm>
            <a:off x="702783" y="1782625"/>
            <a:ext cx="5622316" cy="841248"/>
          </a:xfrm>
          <a:prstGeom prst="rect">
            <a:avLst/>
          </a:prstGeom>
          <a:noFill/>
        </p:spPr>
        <p:txBody>
          <a:bodyPr wrap="square" lIns="95250" tIns="95250" rIns="95250" bIns="95250" rtlCol="0" anchor="t"/>
          <a:lstStyle/>
          <a:p>
            <a:pPr marL="0" indent="0">
              <a:lnSpc>
                <a:spcPct val="113000"/>
              </a:lnSpc>
              <a:spcBef>
                <a:spcPts val="375"/>
              </a:spcBef>
              <a:buNone/>
            </a:pPr>
            <a:r>
              <a:rPr lang="en-US" sz="3455" b="1" dirty="0">
                <a:solidFill>
                  <a:srgbClr val="F4BC42"/>
                </a:solidFill>
                <a:latin typeface="微软雅黑" panose="020B0503020204020204" pitchFamily="34" charset="-122"/>
                <a:ea typeface="微软雅黑" panose="020B0503020204020204" pitchFamily="34" charset="-122"/>
                <a:cs typeface="微软雅黑" panose="020B0503020204020204" pitchFamily="34" charset="-120"/>
              </a:rPr>
              <a:t>致谢部分内容</a:t>
            </a:r>
            <a:endParaRPr lang="en-US" sz="1440" dirty="0"/>
          </a:p>
        </p:txBody>
      </p:sp>
      <p:sp>
        <p:nvSpPr>
          <p:cNvPr id="4" name="Shape 2"/>
          <p:cNvSpPr/>
          <p:nvPr/>
        </p:nvSpPr>
        <p:spPr>
          <a:xfrm>
            <a:off x="731979" y="2660031"/>
            <a:ext cx="4952103" cy="0"/>
          </a:xfrm>
          <a:custGeom>
            <a:avLst/>
            <a:gdLst/>
            <a:ahLst/>
            <a:cxnLst/>
            <a:rect l="l" t="t" r="r" b="b"/>
            <a:pathLst>
              <a:path w="4952103">
                <a:moveTo>
                  <a:pt x="0" y="0"/>
                </a:moveTo>
                <a:moveTo>
                  <a:pt x="0" y="0"/>
                </a:moveTo>
                <a:lnTo>
                  <a:pt x="4952103" y="0"/>
                </a:lnTo>
              </a:path>
            </a:pathLst>
          </a:custGeom>
          <a:noFill/>
          <a:ln w="66675">
            <a:solidFill>
              <a:srgbClr val="4B81CC"/>
            </a:solidFill>
            <a:prstDash val="solid"/>
            <a:headEnd type="none"/>
            <a:tailEnd type="none"/>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导师学术人生指引</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86032276b00686f53482198e1a6d887cd3229.jpg?authorization=c2ltcGxlLWp3dCBhaz1zcGFya2Rlc2s4MDAwMDAwMDAwMDE7ZXhwPTMzMTkyODQzODY7YWxnbz1obWFjLXNoYTI1NjtzaWc9Sm5mUTAyb3RKR0NpM01XT0JrcEprMGQwWU44eU5UNC9BMkhLSmZETjV1cz0=&amp;x_location=7YfmxI7B7uKO7jlRxIftd60wePD="/>
          <p:cNvPicPr>
            <a:picLocks noChangeAspect="1"/>
          </p:cNvPicPr>
          <p:nvPr/>
        </p:nvPicPr>
        <p:blipFill>
          <a:blip r:embed="rId3"/>
          <a:srcRect/>
          <a:stretch>
            <a:fillRect/>
          </a:stretch>
        </p:blipFill>
        <p:spPr>
          <a:xfrm>
            <a:off x="505361" y="2646298"/>
            <a:ext cx="2516140" cy="1415329"/>
          </a:xfrm>
          <a:prstGeom prst="rect">
            <a:avLst/>
          </a:prstGeom>
        </p:spPr>
      </p:pic>
      <p:sp>
        <p:nvSpPr>
          <p:cNvPr id="7" name="Text 3"/>
          <p:cNvSpPr/>
          <p:nvPr/>
        </p:nvSpPr>
        <p:spPr>
          <a:xfrm>
            <a:off x="455940"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导师的学术精神</a:t>
            </a:r>
            <a:endParaRPr lang="en-US" sz="1440" dirty="0"/>
          </a:p>
        </p:txBody>
      </p:sp>
      <p:sp>
        <p:nvSpPr>
          <p:cNvPr id="8" name="Text 4"/>
          <p:cNvSpPr/>
          <p:nvPr/>
        </p:nvSpPr>
        <p:spPr>
          <a:xfrm>
            <a:off x="3247889"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在撰写论文和进行研究的过程中，导师总是耐心地帮助我解决难题，他的指导让我受益匪浅。</a:t>
            </a:r>
            <a:endParaRPr lang="en-US" sz="1440" dirty="0"/>
          </a:p>
        </p:txBody>
      </p:sp>
      <p:pic>
        <p:nvPicPr>
          <p:cNvPr id="9" name="Image 2" descr="https://sgw-dx.xf-yun.com/api/v1/sparkdesk/_1742484388892823bc46e49254187a6966adbf28e09f3.jpg?authorization=c2ltcGxlLWp3dCBhaz1zcGFya2Rlc2s4MDAwMDAwMDAwMDE7ZXhwPTMzMTkyODQzODk7YWxnbz1obWFjLXNoYTI1NjtzaWc9VUorS1UzaDdDZE5MUmZOY2hDeHVVTTIvNUNqeEVldEY2cUQ2ME13NlVpOD0=&amp;x_location=7YfmxI7B7uKO7jlRxIftd60wePD="/>
          <p:cNvPicPr>
            <a:picLocks noChangeAspect="1"/>
          </p:cNvPicPr>
          <p:nvPr/>
        </p:nvPicPr>
        <p:blipFill>
          <a:blip r:embed="rId4"/>
          <a:srcRect l="154" r="154"/>
          <a:stretch>
            <a:fillRect/>
          </a:stretch>
        </p:blipFill>
        <p:spPr>
          <a:xfrm>
            <a:off x="3297311" y="2646298"/>
            <a:ext cx="2516140" cy="1415329"/>
          </a:xfrm>
          <a:prstGeom prst="rect">
            <a:avLst/>
          </a:prstGeom>
        </p:spPr>
      </p:pic>
      <p:sp>
        <p:nvSpPr>
          <p:cNvPr id="10" name="Text 5"/>
          <p:cNvSpPr/>
          <p:nvPr/>
        </p:nvSpPr>
        <p:spPr>
          <a:xfrm>
            <a:off x="3247889" y="826507"/>
            <a:ext cx="2614983"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导师的人生指引</a:t>
            </a:r>
            <a:endParaRPr lang="en-US" sz="1440" dirty="0"/>
          </a:p>
        </p:txBody>
      </p:sp>
      <p:sp>
        <p:nvSpPr>
          <p:cNvPr id="11" name="Text 6"/>
          <p:cNvSpPr/>
          <p:nvPr/>
        </p:nvSpPr>
        <p:spPr>
          <a:xfrm>
            <a:off x="6031158" y="1290078"/>
            <a:ext cx="2656902"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导师的严谨学术精神和丰富经验，对我产生了深远的影响，使我在学术研究的道路上更加坚定和自信。</a:t>
            </a:r>
            <a:endParaRPr lang="en-US" sz="1440" dirty="0"/>
          </a:p>
        </p:txBody>
      </p:sp>
      <p:pic>
        <p:nvPicPr>
          <p:cNvPr id="12" name="Image 3" descr="https://sgw-dx.xf-yun.com/api/v1/sparkdesk/_17424843918143b1b8df9581942b588f01aa844fb1721.jpg?authorization=c2ltcGxlLWp3dCBhaz1zcGFya2Rlc2s4MDAwMDAwMDAwMDE7ZXhwPTMzMTkyODQzOTE7YWxnbz1obWFjLXNoYTI1NjtzaWc9QnJNRG9WL05ta1FBdXJvckc4ajhUSjV0RllnV1NXQWIyekVpYkhlTmUzVT0=&amp;x_location=7YfmxI7B7uKO7jlRxIftd60wePD="/>
          <p:cNvPicPr>
            <a:picLocks noChangeAspect="1"/>
          </p:cNvPicPr>
          <p:nvPr/>
        </p:nvPicPr>
        <p:blipFill>
          <a:blip r:embed="rId5"/>
          <a:srcRect l="154" r="154"/>
          <a:stretch>
            <a:fillRect/>
          </a:stretch>
        </p:blipFill>
        <p:spPr>
          <a:xfrm>
            <a:off x="6101539" y="2646298"/>
            <a:ext cx="2516140" cy="1415329"/>
          </a:xfrm>
          <a:prstGeom prst="rect">
            <a:avLst/>
          </a:prstGeom>
        </p:spPr>
      </p:pic>
      <p:sp>
        <p:nvSpPr>
          <p:cNvPr id="13" name="Text 7"/>
          <p:cNvSpPr/>
          <p:nvPr/>
        </p:nvSpPr>
        <p:spPr>
          <a:xfrm>
            <a:off x="6031158" y="826507"/>
            <a:ext cx="2656902" cy="448056"/>
          </a:xfrm>
          <a:prstGeom prst="rect">
            <a:avLst/>
          </a:prstGeom>
          <a:noFill/>
        </p:spPr>
        <p:txBody>
          <a:bodyPr wrap="square" lIns="95250" tIns="95250" rIns="95250" bIns="95250" rtlCol="0" anchor="t"/>
          <a:lstStyle/>
          <a:p>
            <a:pPr marL="0" indent="0" algn="ctr">
              <a:lnSpc>
                <a:spcPct val="100000"/>
              </a:lnSpc>
              <a:spcBef>
                <a:spcPts val="375"/>
              </a:spcBef>
              <a:buNone/>
            </a:pPr>
            <a:r>
              <a:rPr lang="en-US" sz="1730" b="1" dirty="0">
                <a:solidFill>
                  <a:srgbClr val="498FED"/>
                </a:solidFill>
                <a:latin typeface="微软雅黑" panose="020B0503020204020204" pitchFamily="34" charset="-122"/>
                <a:ea typeface="微软雅黑" panose="020B0503020204020204" pitchFamily="34" charset="-122"/>
                <a:cs typeface="微软雅黑" panose="020B0503020204020204" pitchFamily="34" charset="-120"/>
              </a:rPr>
              <a:t>导师的影响力</a:t>
            </a:r>
            <a:endParaRPr lang="en-US" sz="1440" dirty="0"/>
          </a:p>
        </p:txBody>
      </p:sp>
      <p:sp>
        <p:nvSpPr>
          <p:cNvPr id="14" name="Text 8"/>
          <p:cNvSpPr/>
          <p:nvPr/>
        </p:nvSpPr>
        <p:spPr>
          <a:xfrm>
            <a:off x="455940" y="1290078"/>
            <a:ext cx="2614983" cy="1280160"/>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导师以严谨的学术态度和丰富的经验，为我提供了宝贵的指导。他的智慧和鼓励是我不断前进的动力。</a:t>
            </a:r>
            <a:endParaRPr lang="en-US" sz="14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07154" y="338116"/>
            <a:ext cx="8529691" cy="434340"/>
          </a:xfrm>
          <a:custGeom>
            <a:avLst/>
            <a:gdLst/>
            <a:ahLst/>
            <a:cxnLst/>
            <a:rect l="l" t="t" r="r" b="b"/>
            <a:pathLst>
              <a:path w="8529691" h="434340">
                <a:moveTo>
                  <a:pt x="72390" y="0"/>
                </a:moveTo>
                <a:moveTo>
                  <a:pt x="72390" y="0"/>
                </a:moveTo>
                <a:lnTo>
                  <a:pt x="8457301" y="0"/>
                </a:lnTo>
                <a:quadBezTo>
                  <a:pt x="8529691" y="0"/>
                  <a:pt x="8529691" y="72390"/>
                </a:quadBezTo>
                <a:lnTo>
                  <a:pt x="8529691" y="361950"/>
                </a:lnTo>
                <a:quadBezTo>
                  <a:pt x="8529691" y="434340"/>
                  <a:pt x="8457301" y="434340"/>
                </a:quadBezTo>
                <a:lnTo>
                  <a:pt x="72390" y="434340"/>
                </a:lnTo>
                <a:quadBezTo>
                  <a:pt x="0" y="434340"/>
                  <a:pt x="0" y="361950"/>
                </a:quadBezTo>
                <a:lnTo>
                  <a:pt x="0" y="72390"/>
                </a:lnTo>
                <a:quadBezTo>
                  <a:pt x="0" y="0"/>
                  <a:pt x="72390" y="0"/>
                </a:quadBezTo>
                <a:close/>
              </a:path>
            </a:pathLst>
          </a:custGeom>
          <a:solidFill>
            <a:srgbClr val="FFFFFF"/>
          </a:solidFill>
        </p:spPr>
      </p:sp>
      <p:sp>
        <p:nvSpPr>
          <p:cNvPr id="3" name="Shape 1"/>
          <p:cNvSpPr/>
          <p:nvPr/>
        </p:nvSpPr>
        <p:spPr>
          <a:xfrm rot="-10800000">
            <a:off x="7940708" y="699304"/>
            <a:ext cx="479461" cy="182880"/>
          </a:xfrm>
          <a:custGeom>
            <a:avLst/>
            <a:gdLst/>
            <a:ahLst/>
            <a:cxnLst/>
            <a:rect l="l" t="t" r="r" b="b"/>
            <a:pathLst>
              <a:path w="479461" h="182880">
                <a:moveTo>
                  <a:pt x="239730" y="0"/>
                </a:moveTo>
                <a:moveTo>
                  <a:pt x="239730" y="0"/>
                </a:moveTo>
                <a:lnTo>
                  <a:pt x="0" y="182880"/>
                </a:lnTo>
                <a:lnTo>
                  <a:pt x="479461" y="182880"/>
                </a:lnTo>
                <a:close/>
              </a:path>
            </a:pathLst>
          </a:custGeom>
          <a:solidFill>
            <a:srgbClr val="FFFFFF"/>
          </a:solidFill>
        </p:spPr>
      </p:sp>
      <p:sp>
        <p:nvSpPr>
          <p:cNvPr id="4" name="Text 2"/>
          <p:cNvSpPr/>
          <p:nvPr/>
        </p:nvSpPr>
        <p:spPr>
          <a:xfrm>
            <a:off x="402965" y="283252"/>
            <a:ext cx="7232201" cy="555641"/>
          </a:xfrm>
          <a:prstGeom prst="rect">
            <a:avLst/>
          </a:prstGeom>
          <a:noFill/>
        </p:spPr>
        <p:txBody>
          <a:bodyPr wrap="square" lIns="95250" tIns="95250" rIns="95250" bIns="95250" rtlCol="0" anchor="t"/>
          <a:lstStyle/>
          <a:p>
            <a:pPr marL="0" indent="0">
              <a:lnSpc>
                <a:spcPct val="113000"/>
              </a:lnSpc>
              <a:spcBef>
                <a:spcPts val="375"/>
              </a:spcBef>
              <a:buNone/>
            </a:pPr>
            <a:r>
              <a:rPr lang="en-US" sz="1870" b="1" dirty="0">
                <a:solidFill>
                  <a:srgbClr val="063065"/>
                </a:solidFill>
                <a:latin typeface="微软雅黑" panose="020B0503020204020204" pitchFamily="34" charset="-122"/>
                <a:ea typeface="微软雅黑" panose="020B0503020204020204" pitchFamily="34" charset="-122"/>
                <a:cs typeface="微软雅黑" panose="020B0503020204020204" pitchFamily="34" charset="-120"/>
              </a:rPr>
              <a:t>家人朋友学校支持</a:t>
            </a:r>
            <a:endParaRPr lang="en-US" sz="1440" dirty="0"/>
          </a:p>
        </p:txBody>
      </p:sp>
      <p:pic>
        <p:nvPicPr>
          <p:cNvPr id="5" name="Image 0" descr="https://sgw-dx.xf-yun.com/api/v1/sparkdesk/19052329831_7leGKN1722503441290-08731737834323738.png?authorization=c2ltcGxlLWp3dCBhaz1zcGFya2Rlc2s4MDAwMDAwMDAwMDE7ZXhwPTMyOTkzMDM0NDI7YWxnbz1obWFjLXNoYTI1NjtzaWc9Z3NwZWlDTE1mRnk0K0k5MEl5aERCKzFka3NMOFBvaFRtZmQ4MERUZ0ExRT0=&amp;x_location=7YfmxI7B7uKO7jlRxIftd6Mpdo=="/>
          <p:cNvPicPr>
            <a:picLocks noChangeAspect="1"/>
          </p:cNvPicPr>
          <p:nvPr/>
        </p:nvPicPr>
        <p:blipFill>
          <a:blip r:embed="rId2"/>
          <a:stretch>
            <a:fillRect/>
          </a:stretch>
        </p:blipFill>
        <p:spPr>
          <a:xfrm>
            <a:off x="8021402" y="461886"/>
            <a:ext cx="299785" cy="329764"/>
          </a:xfrm>
          <a:prstGeom prst="rect">
            <a:avLst/>
          </a:prstGeom>
        </p:spPr>
      </p:pic>
      <p:pic>
        <p:nvPicPr>
          <p:cNvPr id="6" name="Image 1" descr="https://sgw-dx.xf-yun.com/api/v1/sparkdesk/_1742484389597371ab6c6c518482da4a246dd7e9904b2.jpg?authorization=c2ltcGxlLWp3dCBhaz1zcGFya2Rlc2s4MDAwMDAwMDAwMDE7ZXhwPTMzMTkyODQzODk7YWxnbz1obWFjLXNoYTI1NjtzaWc9Zy85azZYZVRVdkxHZjFxejM4TXJBRnExUWE4Z2pzZWloYzR4VWZhbDYrYz0=&amp;x_location=7YfmxI7B7uKO7jlRxIftd60wePD="/>
          <p:cNvPicPr>
            <a:picLocks noChangeAspect="1"/>
          </p:cNvPicPr>
          <p:nvPr/>
        </p:nvPicPr>
        <p:blipFill>
          <a:blip r:embed="rId3"/>
          <a:stretch>
            <a:fillRect/>
          </a:stretch>
        </p:blipFill>
        <p:spPr>
          <a:xfrm>
            <a:off x="445242" y="1227435"/>
            <a:ext cx="2831634" cy="2831634"/>
          </a:xfrm>
          <a:prstGeom prst="rect">
            <a:avLst/>
          </a:prstGeom>
        </p:spPr>
      </p:pic>
      <p:sp>
        <p:nvSpPr>
          <p:cNvPr id="7" name="Text 3"/>
          <p:cNvSpPr/>
          <p:nvPr/>
        </p:nvSpPr>
        <p:spPr>
          <a:xfrm>
            <a:off x="3485040" y="1130659"/>
            <a:ext cx="3309781"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家人的无私支持</a:t>
            </a:r>
            <a:endParaRPr lang="en-US" sz="1440" dirty="0"/>
          </a:p>
        </p:txBody>
      </p:sp>
      <p:sp>
        <p:nvSpPr>
          <p:cNvPr id="8" name="Text 4"/>
          <p:cNvSpPr/>
          <p:nvPr/>
        </p:nvSpPr>
        <p:spPr>
          <a:xfrm>
            <a:off x="3485040" y="1427243"/>
            <a:ext cx="5212080" cy="621792"/>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家人的理解与鼓励是学业成功的坚强后盾，他们不仅提供情感上的支持，还为学习创造了一个无干扰的环境，使我能够全心投入。</a:t>
            </a:r>
            <a:endParaRPr lang="en-US" sz="1440" dirty="0"/>
          </a:p>
        </p:txBody>
      </p:sp>
      <p:sp>
        <p:nvSpPr>
          <p:cNvPr id="9" name="Text 5"/>
          <p:cNvSpPr/>
          <p:nvPr/>
        </p:nvSpPr>
        <p:spPr>
          <a:xfrm>
            <a:off x="3485040" y="2158619"/>
            <a:ext cx="4507439"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朋友的陪伴与帮助</a:t>
            </a:r>
            <a:endParaRPr lang="en-US" sz="1440" dirty="0"/>
          </a:p>
        </p:txBody>
      </p:sp>
      <p:sp>
        <p:nvSpPr>
          <p:cNvPr id="10" name="Text 6"/>
          <p:cNvSpPr/>
          <p:nvPr/>
        </p:nvSpPr>
        <p:spPr>
          <a:xfrm>
            <a:off x="3485040" y="2463259"/>
            <a:ext cx="5212080" cy="621792"/>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在学术旅程中，朋友们的存在如同灯塔，他们的陪伴和帮助减轻了压力，共同讨论问题和分享知识让学习之路不再孤单。</a:t>
            </a:r>
            <a:endParaRPr lang="en-US" sz="1440" dirty="0"/>
          </a:p>
        </p:txBody>
      </p:sp>
      <p:sp>
        <p:nvSpPr>
          <p:cNvPr id="11" name="Text 7"/>
          <p:cNvSpPr/>
          <p:nvPr/>
        </p:nvSpPr>
        <p:spPr>
          <a:xfrm>
            <a:off x="3485040" y="3194618"/>
            <a:ext cx="4861995" cy="484632"/>
          </a:xfrm>
          <a:prstGeom prst="rect">
            <a:avLst/>
          </a:prstGeom>
          <a:noFill/>
        </p:spPr>
        <p:txBody>
          <a:bodyPr wrap="square" lIns="95250" tIns="95250" rIns="95250" bIns="95250" rtlCol="0" anchor="t"/>
          <a:lstStyle/>
          <a:p>
            <a:pPr marL="0" indent="0">
              <a:lnSpc>
                <a:spcPct val="113000"/>
              </a:lnSpc>
              <a:spcBef>
                <a:spcPts val="375"/>
              </a:spcBef>
              <a:buNone/>
            </a:pPr>
            <a:r>
              <a:rPr lang="en-US" sz="1585" b="1" dirty="0">
                <a:solidFill>
                  <a:srgbClr val="1C62C0"/>
                </a:solidFill>
                <a:latin typeface="微软雅黑" panose="020B0503020204020204" pitchFamily="34" charset="-122"/>
                <a:ea typeface="微软雅黑" panose="020B0503020204020204" pitchFamily="34" charset="-122"/>
                <a:cs typeface="微软雅黑" panose="020B0503020204020204" pitchFamily="34" charset="-120"/>
              </a:rPr>
              <a:t>学校的资源与环境</a:t>
            </a:r>
            <a:endParaRPr lang="en-US" sz="1440" dirty="0"/>
          </a:p>
        </p:txBody>
      </p:sp>
      <p:sp>
        <p:nvSpPr>
          <p:cNvPr id="12" name="Text 8"/>
          <p:cNvSpPr/>
          <p:nvPr/>
        </p:nvSpPr>
        <p:spPr>
          <a:xfrm>
            <a:off x="3485040" y="3491058"/>
            <a:ext cx="5213718" cy="621792"/>
          </a:xfrm>
          <a:prstGeom prst="rect">
            <a:avLst/>
          </a:prstGeom>
          <a:noFill/>
        </p:spPr>
        <p:txBody>
          <a:bodyPr wrap="square" lIns="95250" tIns="95250" rIns="95250" bIns="95250" rtlCol="0" anchor="t"/>
          <a:lstStyle/>
          <a:p>
            <a:pPr marL="0" indent="0" algn="just">
              <a:lnSpc>
                <a:spcPct val="100000"/>
              </a:lnSpc>
              <a:spcBef>
                <a:spcPts val="375"/>
              </a:spcBef>
              <a:buNone/>
            </a:pPr>
            <a:r>
              <a:rPr lang="en-US" sz="1150"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学校提供的丰富资源和优质的学习环境是知识探索的宝库，图书馆的书籍、实验室的设备以及教师的指导都是宝贵的财富。</a:t>
            </a:r>
            <a:endParaRPr lang="en-US" sz="14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3383" y="1992963"/>
            <a:ext cx="4313208" cy="1175433"/>
          </a:xfrm>
          <a:prstGeom prst="rect">
            <a:avLst/>
          </a:prstGeom>
          <a:noFill/>
        </p:spPr>
        <p:txBody>
          <a:bodyPr wrap="square" lIns="95250" tIns="95250" rIns="95250" bIns="95250" rtlCol="0" anchor="t"/>
          <a:lstStyle/>
          <a:p>
            <a:pPr marL="0" indent="0" algn="ctr">
              <a:lnSpc>
                <a:spcPct val="113000"/>
              </a:lnSpc>
              <a:spcBef>
                <a:spcPts val="375"/>
              </a:spcBef>
              <a:buNone/>
            </a:pPr>
            <a:r>
              <a:rPr lang="en-US" sz="50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感谢观看</a:t>
            </a:r>
            <a:endParaRPr lang="en-US" sz="14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3594</Words>
  <Application>WPS 演示</Application>
  <PresentationFormat>On-screen Show (16:9)</PresentationFormat>
  <Paragraphs>292</Paragraphs>
  <Slides>25</Slides>
  <Notes>25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宋体</vt:lpstr>
      <vt:lpstr>Wingdings</vt:lpstr>
      <vt:lpstr>微软雅黑</vt:lpstr>
      <vt:lpstr>微软雅黑</vt:lpstr>
      <vt:lpstr>Arial</vt:lpstr>
      <vt:lpstr>Arial</vt:lpstr>
      <vt:lpstr>Calibri</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国际海运·钟先森</cp:lastModifiedBy>
  <cp:revision>2</cp:revision>
  <dcterms:created xsi:type="dcterms:W3CDTF">2025-03-20T15:26:00Z</dcterms:created>
  <dcterms:modified xsi:type="dcterms:W3CDTF">2025-03-20T15:30:15Z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79CD2AF6F3CB4C53AB7AD238953665C2_12</vt:lpwstr>
  </property>
  <property fmtid="{D5CDD505-2E9C-101B-9397-08002B2CF9AE}" pid="3" name="KSOProductBuildVer">
    <vt:lpwstr>2052-12.1.0.20305</vt:lpwstr>
  </property>
</Properties>
</file>